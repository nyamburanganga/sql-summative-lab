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8649d23-ca46-548b-d78c-bd60ae0507a9}">
          <p14:sldIdLst>
            <p14:sldId id="256"/>
          </p14:sldIdLst>
        </p14:section>
        <p14:section name="Findings" id="{affbbafb-5748-1725-cc1c-70600a72221d}">
          <p14:sldIdLst>
            <p14:sldId id="257"/>
            <p14:sldId id="258"/>
          </p14:sldIdLst>
        </p14:section>
        <p14:section name="Business Question" id="{9857e1d6-1eec-2b43-98dc-1b02204b15d3}">
          <p14:sldIdLst>
            <p14:sldId id="259"/>
          </p14:sldIdLst>
        </p14:section>
        <p14:section name="Data Quality" id="{eb33ff22-6386-a299-1fc4-9ae1279191f2}">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1B2E"/>
                </a:solidFill>
                <a:latin typeface="+mn-lt"/>
              </a:defRPr>
            </a:pPr>
            <a:r>
              <a:rPr sz="1400" b="0" i="0" u="none" strike="noStrike">
                <a:solidFill>
                  <a:srgbClr val="1E1B2E"/>
                </a:solidFill>
                <a:latin typeface="+mn-lt"/>
              </a:rPr>
              <a:t>Movies released per year</a:t>
            </a:r>
          </a:p>
        </c:rich>
      </c:tx>
      <c:layout/>
      <c:overlay val="0"/>
    </c:title>
    <c:autoTitleDeleted val="0"/>
    <c:plotArea>
      <c:layout/>
      <c:barChart>
        <c:barDir val="col"/>
        <c:grouping val="clustered"/>
        <c:varyColors val="0"/>
        <c:ser>
          <c:idx val="0"/>
          <c:order val="0"/>
          <c:tx>
            <c:strRef>
              <c:f>Sheet1!$B$1</c:f>
              <c:strCache>
                <c:ptCount val="1"/>
                <c:pt idx="0">
                  <c:v>Movies released</c:v>
                </c:pt>
              </c:strCache>
            </c:strRef>
          </c:tx>
          <c:spPr>
            <a:solidFill>
              <a:srgbClr val="5B4B8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2010</c:v>
                  </c:pt>
                  <c:pt idx="1">
                    <c:v>2011</c:v>
                  </c:pt>
                  <c:pt idx="2">
                    <c:v>2012</c:v>
                  </c:pt>
                  <c:pt idx="3">
                    <c:v>2013</c:v>
                  </c:pt>
                  <c:pt idx="4">
                    <c:v>2014</c:v>
                  </c:pt>
                  <c:pt idx="5">
                    <c:v>2015</c:v>
                  </c:pt>
                  <c:pt idx="6">
                    <c:v>2016</c:v>
                  </c:pt>
                  <c:pt idx="7">
                    <c:v>2017</c:v>
                  </c:pt>
                  <c:pt idx="8">
                    <c:v>2018</c:v>
                  </c:pt>
                  <c:pt idx="9">
                    <c:v>2019</c:v>
                  </c:pt>
                </c:lvl>
              </c:multiLvlStrCache>
            </c:multiLvlStrRef>
          </c:cat>
          <c:val>
            <c:numRef>
              <c:f>Sheet1!$B$2:$B$11</c:f>
              <c:numCache>
                <c:formatCode>General</c:formatCode>
                <c:ptCount val="10"/>
                <c:pt idx="0">
                  <c:v>11849</c:v>
                </c:pt>
                <c:pt idx="1">
                  <c:v>12900</c:v>
                </c:pt>
                <c:pt idx="2">
                  <c:v>13787</c:v>
                </c:pt>
                <c:pt idx="3">
                  <c:v>14709</c:v>
                </c:pt>
                <c:pt idx="4">
                  <c:v>15589</c:v>
                </c:pt>
                <c:pt idx="5">
                  <c:v>16243</c:v>
                </c:pt>
                <c:pt idx="6">
                  <c:v>17272</c:v>
                </c:pt>
                <c:pt idx="7">
                  <c:v>17504</c:v>
                </c:pt>
                <c:pt idx="8">
                  <c:v>16849</c:v>
                </c:pt>
                <c:pt idx="9">
                  <c:v>8379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6785"/>
                </a:solidFill>
                <a:latin typeface="+mn-lt"/>
              </a:defRPr>
            </a:pPr>
            <a:endParaRPr lang="en-US"/>
          </a:p>
        </c:txPr>
        <c:crossAx val="2094734552"/>
        <c:crosses val="autoZero"/>
        <c:auto val="1"/>
        <c:lblAlgn val="ctr"/>
        <c:noMultiLvlLbl val="1"/>
      </c:catAx>
      <c:valAx>
        <c:axId val="2094734552"/>
        <c:scaling>
          <c:orientation val="minMax"/>
          <c:max val="20000"/>
        </c:scaling>
        <c:delete val="0"/>
        <c:axPos val="l"/>
        <c:majorGridlines>
          <c:spPr>
            <a:ln w="9525" cap="flat">
              <a:solidFill>
                <a:srgbClr val="E3E0EE"/>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678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1B2E"/>
                </a:solidFill>
                <a:latin typeface="+mn-lt"/>
              </a:defRPr>
            </a:pPr>
            <a:r>
              <a:rPr sz="1400" b="0" i="0" u="none" strike="noStrike">
                <a:solidFill>
                  <a:srgbClr val="1E1B2E"/>
                </a:solidFill>
                <a:latin typeface="+mn-lt"/>
              </a:rPr>
              <a:t>Average rating (out of 10)</a:t>
            </a:r>
          </a:p>
        </c:rich>
      </c:tx>
      <c:layout/>
      <c:overlay val="0"/>
    </c:title>
    <c:autoTitleDeleted val="0"/>
    <c:plotArea>
      <c:layout/>
      <c:barChart>
        <c:barDir val="bar"/>
        <c:grouping val="clustered"/>
        <c:varyColors val="0"/>
        <c:ser>
          <c:idx val="0"/>
          <c:order val="0"/>
          <c:tx>
            <c:strRef>
              <c:f>Sheet1!$B$1</c:f>
              <c:strCache>
                <c:ptCount val="1"/>
                <c:pt idx="0">
                  <c:v>Average rating</c:v>
                </c:pt>
              </c:strCache>
            </c:strRef>
          </c:tx>
          <c:spPr>
            <a:solidFill>
              <a:srgbClr val="5B4B8A"/>
            </a:solidFill>
            <a:effectLst/>
          </c:spPr>
          <c:invertIfNegative val="0"/>
          <c:dLbls>
            <c:numFmt formatCode="0.00" sourceLinked="0"/>
            <c:txPr>
              <a:bodyPr/>
              <a:lstStyle/>
              <a:p>
                <a:pPr>
                  <a:defRPr b="0" i="0" strike="noStrike" sz="1100" u="none">
                    <a:solidFill>
                      <a:srgbClr val="1E1B2E"/>
                    </a:solidFill>
                    <a:latin typeface="+mn-lt"/>
                  </a:defRPr>
                </a:pPr>
              </a:p>
            </c:txPr>
            <c:showLegendKey val="0"/>
            <c:showVal val="1"/>
            <c:showCatName val="0"/>
            <c:showSerName val="0"/>
            <c:showPercent val="0"/>
            <c:showBubbleSize val="0"/>
            <c:showLeaderLines val="0"/>
          </c:dLbls>
          <c:dPt>
            <c:idx val="0"/>
            <c:invertIfNegative val="0"/>
            <c:bubble3D val="0"/>
            <c:spPr>
              <a:solidFill>
                <a:srgbClr val="5B4B8A"/>
              </a:solidFill>
              <a:effectLst/>
            </c:spPr>
          </c:dPt>
          <c:dPt>
            <c:idx val="1"/>
            <c:invertIfNegative val="0"/>
            <c:bubble3D val="0"/>
            <c:spPr>
              <a:solidFill>
                <a:srgbClr val="C9971C"/>
              </a:solidFill>
              <a:effectLst/>
            </c:spPr>
          </c:dPt>
          <c:dPt>
            <c:idx val="2"/>
            <c:invertIfNegative val="0"/>
            <c:bubble3D val="0"/>
            <c:spPr>
              <a:solidFill>
                <a:srgbClr val="C9971C"/>
              </a:solidFill>
              <a:effectLst/>
            </c:spPr>
          </c:dPt>
          <c:dPt>
            <c:idx val="3"/>
            <c:invertIfNegative val="0"/>
            <c:bubble3D val="0"/>
            <c:spPr>
              <a:solidFill>
                <a:srgbClr val="5B4B8A"/>
              </a:solidFill>
              <a:effectLst/>
            </c:spPr>
          </c:dPt>
          <c:dPt>
            <c:idx val="4"/>
            <c:invertIfNegative val="0"/>
            <c:bubble3D val="0"/>
            <c:spPr>
              <a:solidFill>
                <a:srgbClr val="5B4B8A"/>
              </a:solidFill>
              <a:effectLst/>
            </c:spPr>
          </c:dPt>
          <c:dPt>
            <c:idx val="5"/>
            <c:invertIfNegative val="0"/>
            <c:bubble3D val="0"/>
            <c:spPr>
              <a:solidFill>
                <a:srgbClr val="5B4B8A"/>
              </a:solidFill>
              <a:effectLst/>
            </c:spPr>
          </c:dPt>
          <c:dPt>
            <c:idx val="6"/>
            <c:invertIfNegative val="0"/>
            <c:bubble3D val="0"/>
            <c:spPr>
              <a:solidFill>
                <a:srgbClr val="5B4B8A"/>
              </a:solidFill>
              <a:effectLst/>
            </c:spPr>
          </c:dPt>
          <c:dPt>
            <c:idx val="7"/>
            <c:invertIfNegative val="0"/>
            <c:bubble3D val="0"/>
            <c:spPr>
              <a:solidFill>
                <a:srgbClr val="5B4B8A"/>
              </a:solidFill>
              <a:effectLst/>
            </c:spPr>
          </c:dPt>
          <c:dPt>
            <c:idx val="8"/>
            <c:invertIfNegative val="0"/>
            <c:bubble3D val="0"/>
            <c:spPr>
              <a:solidFill>
                <a:srgbClr val="5B4B8A"/>
              </a:solidFill>
              <a:effectLst/>
            </c:spPr>
          </c:dPt>
          <c:cat>
            <c:multiLvlStrRef>
              <c:f>Sheet1!$A$2:$A$10</c:f>
              <c:multiLvlStrCache>
                <c:ptCount val="9"/>
                <c:lvl>
                  <c:pt idx="0">
                    <c:v>Documentary</c:v>
                  </c:pt>
                  <c:pt idx="1">
                    <c:v>Biography</c:v>
                  </c:pt>
                  <c:pt idx="2">
                    <c:v>Animation</c:v>
                  </c:pt>
                  <c:pt idx="3">
                    <c:v>Drama</c:v>
                  </c:pt>
                  <c:pt idx="4">
                    <c:v>Adventure</c:v>
                  </c:pt>
                  <c:pt idx="5">
                    <c:v>Comedy</c:v>
                  </c:pt>
                  <c:pt idx="6">
                    <c:v>Action</c:v>
                  </c:pt>
                  <c:pt idx="7">
                    <c:v>Sci-Fi</c:v>
                  </c:pt>
                  <c:pt idx="8">
                    <c:v>Horror</c:v>
                  </c:pt>
                </c:lvl>
              </c:multiLvlStrCache>
            </c:multiLvlStrRef>
          </c:cat>
          <c:val>
            <c:numRef>
              <c:f>Sheet1!$B$2:$B$10</c:f>
              <c:numCache>
                <c:formatCode>General</c:formatCode>
                <c:ptCount val="9"/>
                <c:pt idx="0">
                  <c:v>7.27</c:v>
                </c:pt>
                <c:pt idx="1">
                  <c:v>6.96</c:v>
                </c:pt>
                <c:pt idx="2">
                  <c:v>6.68</c:v>
                </c:pt>
                <c:pt idx="3">
                  <c:v>6.49</c:v>
                </c:pt>
                <c:pt idx="4">
                  <c:v>6.16</c:v>
                </c:pt>
                <c:pt idx="5">
                  <c:v>6.11</c:v>
                </c:pt>
                <c:pt idx="6">
                  <c:v>6.01</c:v>
                </c:pt>
                <c:pt idx="7">
                  <c:v>5.71</c:v>
                </c:pt>
                <c:pt idx="8">
                  <c:v>5.28</c:v>
                </c:pt>
              </c:numCache>
            </c:numRef>
          </c:val>
        </c:ser>
        <c:dLbls>
          <c:numFmt formatCode="0.00" sourceLinked="0"/>
          <c:txPr>
            <a:bodyPr/>
            <a:lstStyle/>
            <a:p>
              <a:pPr>
                <a:defRPr b="0" i="0" strike="noStrike" sz="1100" u="none">
                  <a:solidFill>
                    <a:srgbClr val="1E1B2E"/>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E1B2E"/>
                </a:solidFill>
                <a:latin typeface="+mn-lt"/>
              </a:defRPr>
            </a:pPr>
            <a:endParaRPr lang="en-US"/>
          </a:p>
        </c:txPr>
        <c:crossAx val="2094734552"/>
        <c:crosses val="autoZero"/>
        <c:auto val="1"/>
        <c:lblAlgn val="ctr"/>
        <c:noMultiLvlLbl val="1"/>
      </c:catAx>
      <c:valAx>
        <c:axId val="2094734552"/>
        <c:scaling>
          <c:orientation val="minMax"/>
          <c:max val="9"/>
          <c:min val="0"/>
        </c:scaling>
        <c:delete val="0"/>
        <c:axPos val="b"/>
        <c:majorGridlines>
          <c:spPr>
            <a:ln w="9525" cap="flat">
              <a:solidFill>
                <a:srgbClr val="E3E0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678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1B2E"/>
                </a:solidFill>
                <a:latin typeface="+mn-lt"/>
              </a:defRPr>
            </a:pPr>
            <a:r>
              <a:rPr sz="1400" b="0" i="0" u="none" strike="noStrike">
                <a:solidFill>
                  <a:srgbClr val="1E1B2E"/>
                </a:solidFill>
                <a:latin typeface="+mn-lt"/>
              </a:rPr>
              <a:t>Audience size (average votes, thousands)</a:t>
            </a:r>
          </a:p>
        </c:rich>
      </c:tx>
      <c:layout/>
      <c:overlay val="0"/>
    </c:title>
    <c:autoTitleDeleted val="0"/>
    <c:plotArea>
      <c:layout/>
      <c:barChart>
        <c:barDir val="bar"/>
        <c:grouping val="clustered"/>
        <c:varyColors val="0"/>
        <c:ser>
          <c:idx val="0"/>
          <c:order val="0"/>
          <c:tx>
            <c:strRef>
              <c:f>Sheet1!$B$1</c:f>
              <c:strCache>
                <c:ptCount val="1"/>
                <c:pt idx="0">
                  <c:v>Audience size</c:v>
                </c:pt>
              </c:strCache>
            </c:strRef>
          </c:tx>
          <c:spPr>
            <a:solidFill>
              <a:srgbClr val="5B4B8A"/>
            </a:solidFill>
            <a:effectLst/>
          </c:spPr>
          <c:invertIfNegative val="0"/>
          <c:dLbls>
            <c:numFmt formatCode="0.0" sourceLinked="0"/>
            <c:txPr>
              <a:bodyPr/>
              <a:lstStyle/>
              <a:p>
                <a:pPr>
                  <a:defRPr b="0" i="0" strike="noStrike" sz="1100" u="none">
                    <a:solidFill>
                      <a:srgbClr val="1E1B2E"/>
                    </a:solidFill>
                    <a:latin typeface="+mn-lt"/>
                  </a:defRPr>
                </a:pPr>
              </a:p>
            </c:txPr>
            <c:showLegendKey val="0"/>
            <c:showVal val="1"/>
            <c:showCatName val="0"/>
            <c:showSerName val="0"/>
            <c:showPercent val="0"/>
            <c:showBubbleSize val="0"/>
            <c:showLeaderLines val="0"/>
          </c:dLbls>
          <c:dPt>
            <c:idx val="0"/>
            <c:invertIfNegative val="0"/>
            <c:bubble3D val="0"/>
            <c:spPr>
              <a:solidFill>
                <a:srgbClr val="5B4B8A"/>
              </a:solidFill>
              <a:effectLst/>
            </c:spPr>
          </c:dPt>
          <c:dPt>
            <c:idx val="1"/>
            <c:invertIfNegative val="0"/>
            <c:bubble3D val="0"/>
            <c:spPr>
              <a:solidFill>
                <a:srgbClr val="C9971C"/>
              </a:solidFill>
              <a:effectLst/>
            </c:spPr>
          </c:dPt>
          <c:dPt>
            <c:idx val="2"/>
            <c:invertIfNegative val="0"/>
            <c:bubble3D val="0"/>
            <c:spPr>
              <a:solidFill>
                <a:srgbClr val="C9971C"/>
              </a:solidFill>
              <a:effectLst/>
            </c:spPr>
          </c:dPt>
          <c:dPt>
            <c:idx val="3"/>
            <c:invertIfNegative val="0"/>
            <c:bubble3D val="0"/>
            <c:spPr>
              <a:solidFill>
                <a:srgbClr val="5B4B8A"/>
              </a:solidFill>
              <a:effectLst/>
            </c:spPr>
          </c:dPt>
          <c:dPt>
            <c:idx val="4"/>
            <c:invertIfNegative val="0"/>
            <c:bubble3D val="0"/>
            <c:spPr>
              <a:solidFill>
                <a:srgbClr val="5B4B8A"/>
              </a:solidFill>
              <a:effectLst/>
            </c:spPr>
          </c:dPt>
          <c:dPt>
            <c:idx val="5"/>
            <c:invertIfNegative val="0"/>
            <c:bubble3D val="0"/>
            <c:spPr>
              <a:solidFill>
                <a:srgbClr val="5B4B8A"/>
              </a:solidFill>
              <a:effectLst/>
            </c:spPr>
          </c:dPt>
          <c:dPt>
            <c:idx val="6"/>
            <c:invertIfNegative val="0"/>
            <c:bubble3D val="0"/>
            <c:spPr>
              <a:solidFill>
                <a:srgbClr val="5B4B8A"/>
              </a:solidFill>
              <a:effectLst/>
            </c:spPr>
          </c:dPt>
          <c:dPt>
            <c:idx val="7"/>
            <c:invertIfNegative val="0"/>
            <c:bubble3D val="0"/>
            <c:spPr>
              <a:solidFill>
                <a:srgbClr val="5B4B8A"/>
              </a:solidFill>
              <a:effectLst/>
            </c:spPr>
          </c:dPt>
          <c:dPt>
            <c:idx val="8"/>
            <c:invertIfNegative val="0"/>
            <c:bubble3D val="0"/>
            <c:spPr>
              <a:solidFill>
                <a:srgbClr val="5B4B8A"/>
              </a:solidFill>
              <a:effectLst/>
            </c:spPr>
          </c:dPt>
          <c:cat>
            <c:multiLvlStrRef>
              <c:f>Sheet1!$A$2:$A$10</c:f>
              <c:multiLvlStrCache>
                <c:ptCount val="9"/>
                <c:lvl>
                  <c:pt idx="0">
                    <c:v>Documentary</c:v>
                  </c:pt>
                  <c:pt idx="1">
                    <c:v>Biography</c:v>
                  </c:pt>
                  <c:pt idx="2">
                    <c:v>Animation</c:v>
                  </c:pt>
                  <c:pt idx="3">
                    <c:v>Drama</c:v>
                  </c:pt>
                  <c:pt idx="4">
                    <c:v>Adventure</c:v>
                  </c:pt>
                  <c:pt idx="5">
                    <c:v>Comedy</c:v>
                  </c:pt>
                  <c:pt idx="6">
                    <c:v>Action</c:v>
                  </c:pt>
                  <c:pt idx="7">
                    <c:v>Sci-Fi</c:v>
                  </c:pt>
                  <c:pt idx="8">
                    <c:v>Horror</c:v>
                  </c:pt>
                </c:lvl>
              </c:multiLvlStrCache>
            </c:multiLvlStrRef>
          </c:cat>
          <c:val>
            <c:numRef>
              <c:f>Sheet1!$B$2:$B$10</c:f>
              <c:numCache>
                <c:formatCode>General</c:formatCode>
                <c:ptCount val="9"/>
                <c:pt idx="0">
                  <c:v>4.8</c:v>
                </c:pt>
                <c:pt idx="1">
                  <c:v>30.4</c:v>
                </c:pt>
                <c:pt idx="2">
                  <c:v>40.3</c:v>
                </c:pt>
                <c:pt idx="3">
                  <c:v>23</c:v>
                </c:pt>
                <c:pt idx="4">
                  <c:v>83.7</c:v>
                </c:pt>
                <c:pt idx="5">
                  <c:v>24</c:v>
                </c:pt>
                <c:pt idx="6">
                  <c:v>50.2</c:v>
                </c:pt>
                <c:pt idx="7">
                  <c:v>80.1</c:v>
                </c:pt>
                <c:pt idx="8">
                  <c:v>17.5</c:v>
                </c:pt>
              </c:numCache>
            </c:numRef>
          </c:val>
        </c:ser>
        <c:dLbls>
          <c:numFmt formatCode="0.0" sourceLinked="0"/>
          <c:txPr>
            <a:bodyPr/>
            <a:lstStyle/>
            <a:p>
              <a:pPr>
                <a:defRPr b="0" i="0" strike="noStrike" sz="1100" u="none">
                  <a:solidFill>
                    <a:srgbClr val="1E1B2E"/>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E1B2E"/>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9525" cap="flat">
              <a:solidFill>
                <a:srgbClr val="E3E0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678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I analysed about 145,000 IMDB movies released between 2010 and 2019, using SQL to query the data and Python to summarise and chart it. The aim was to find which genres give a studio both good ratings and a large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covers about 145,000 movies, but only around half have a rating, so every conclusion describes rated movies. Releases grew from about 11,800 in 2010 to a peak of 17,500 in 2017. Average ratings rose slightly over the decade. The 2019 bar is low because the data for that year is incomplete.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movies with at least 1,000 votes are included, because ratings from a handful of voters are unreliable. Each movie counts in every genre it belongs to. Documentary has the top rating at 7.27 but only about 4,800 votes per movie. Adventure and Sci-Fi attract 80,000 or more votes but rate 6.16 and 5.71. Biography and Animation, in gold, combine a high rating with a large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question comes straight from the chart. Quality and popularity do not always go together, so a studio needs to know where they overlap. Biography and Animation currently look strongest. To confirm it, I would check the pattern year by year, add runtime and director data, and compare against budget and revenue if that data can be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deeper analysis, the data needs cleaning. Some movies have impossible dates, runtimes or genres are missing, and the directors table contains about 44 percent duplicate rows, which would inflate any count of a director's movies. Genres are stored together in one field, so they need splitting. Ratings from very few votes are unreliable, which is why I used a 1,000 vote minimum. I excluded missing values rather than filling them in, as the assignment instructs.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3" name="Text 1"/>
          <p:cNvSpPr/>
          <p:nvPr>
            <p:ph idx="101" type="title" hasCustomPrompt="1"/>
          </p:nvPr>
        </p:nvSpPr>
        <p:spPr>
          <a:xfrm>
            <a:off x="640080" y="1234440"/>
            <a:ext cx="5852160" cy="1554480"/>
          </a:xfrm>
          <a:prstGeom prst="rect">
            <a:avLst/>
          </a:prstGeom>
          <a:noFill/>
          <a:ln/>
        </p:spPr>
        <p:txBody>
          <a:bodyPr wrap="square" rtlCol="0"/>
          <a:lstStyle>
            <a:lvl1pPr indent="0" marL="0">
              <a:buNone/>
              <a:defRPr lang="en-US" sz="3600" b="1" dirty="0">
                <a:solidFill>
                  <a:schemeClr val="bg1"/>
                </a:solidFill>
              </a:defRPr>
            </a:lvl1pPr>
          </a:lstStyle>
          <a:p>
            <a:pPr indent="0" marL="0">
              <a:buNone/>
            </a:pPr>
            <a:endParaRPr lang="en-US" sz="3600" dirty="0"/>
          </a:p>
        </p:txBody>
      </p:sp>
      <p:sp>
        <p:nvSpPr>
          <p:cNvPr id="4" name="Text 1"/>
          <p:cNvSpPr/>
          <p:nvPr>
            <p:ph idx="102" type="body" hasCustomPrompt="1"/>
          </p:nvPr>
        </p:nvSpPr>
        <p:spPr>
          <a:xfrm>
            <a:off x="640080" y="2926080"/>
            <a:ext cx="5852160" cy="73152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 0"/>
          <p:cNvSpPr/>
          <p:nvPr>
            <p:ph idx="100" type="title" hasCustomPrompt="1"/>
          </p:nvPr>
        </p:nvSpPr>
        <p:spPr>
          <a:xfrm>
            <a:off x="1188720" y="320040"/>
            <a:ext cx="7498080" cy="640080"/>
          </a:xfrm>
          <a:prstGeom prst="rect">
            <a:avLst/>
          </a:prstGeom>
          <a:noFill/>
          <a:ln/>
        </p:spPr>
        <p:txBody>
          <a:bodyPr wrap="square" rtlCol="0"/>
          <a:lstStyle>
            <a:lvl1pPr indent="0" marL="0">
              <a:buNone/>
              <a:defRPr lang="en-US" sz="3000" b="1" dirty="0">
                <a:solidFill>
                  <a:schemeClr val="tx1"/>
                </a:solidFill>
              </a:defRPr>
            </a:lvl1pPr>
          </a:lstStyle>
          <a:p>
            <a:pPr indent="0" marL="0">
              <a:buNone/>
            </a:pPr>
            <a:endParaRPr lang="en-US" sz="3000" dirty="0"/>
          </a:p>
        </p:txBody>
      </p:sp>
      <p:sp>
        <p:nvSpPr>
          <p:cNvPr id="3" name="Text 0"/>
          <p:cNvSpPr/>
          <p:nvPr/>
        </p:nvSpPr>
        <p:spPr>
          <a:xfrm>
            <a:off x="457200" y="4828032"/>
            <a:ext cx="4572000" cy="228600"/>
          </a:xfrm>
          <a:prstGeom prst="rect">
            <a:avLst/>
          </a:prstGeom>
          <a:noFill/>
          <a:ln/>
        </p:spPr>
        <p:txBody>
          <a:bodyPr wrap="square" lIns="0" tIns="0" rIns="0" bIns="0" rtlCol="0" anchor="ctr"/>
          <a:lstStyle/>
          <a:p>
            <a:pPr indent="0" marL="0">
              <a:buNone/>
            </a:pPr>
            <a:r>
              <a:rPr lang="en-US" sz="1000" dirty="0">
                <a:solidFill>
                  <a:schemeClr val="accent5"/>
                </a:solidFill>
              </a:rPr>
              <a:t>Movie Genre Analysis, 2010-2019</a:t>
            </a:r>
            <a:endParaRPr lang="en-US" sz="1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2-1.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chart" Target="/ppt/charts/chart2.xml"/><Relationship Id="rId3" Type="http://schemas.openxmlformats.org/officeDocument/2006/relationships/chart" Target="/ppt/charts/chart3.xml"/><Relationship Id="rId1" Type="http://schemas.openxmlformats.org/officeDocument/2006/relationships/image" Target="../media/image-3-1.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640080" y="1234440"/>
            <a:ext cx="5852160" cy="1554480"/>
          </a:xfrm>
          <a:prstGeom prst="rect">
            <a:avLst/>
          </a:prstGeom>
          <a:noFill/>
          <a:ln/>
        </p:spPr>
        <p:txBody>
          <a:bodyPr wrap="square" lIns="0" tIns="0" rIns="0" bIns="0" rtlCol="0" anchor="t"/>
          <a:lstStyle/>
          <a:p>
            <a:pPr indent="0" marL="0">
              <a:buNone/>
            </a:pPr>
            <a:r>
              <a:rPr lang="en-US" sz="3600" b="1" dirty="0">
                <a:solidFill>
                  <a:schemeClr val="bg1"/>
                </a:solidFill>
              </a:rPr>
              <a:t>Which Movie Genres Are Both Well Rated and Widely Watched?</a:t>
            </a:r>
            <a:endParaRPr lang="en-US" sz="3600" dirty="0"/>
          </a:p>
        </p:txBody>
      </p:sp>
      <p:sp>
        <p:nvSpPr>
          <p:cNvPr id="3" name="Text 1"/>
          <p:cNvSpPr/>
          <p:nvPr>
            <p:ph idx="102" type="body" hasCustomPrompt="1"/>
          </p:nvPr>
        </p:nvSpPr>
        <p:spPr>
          <a:xfrm>
            <a:off x="640080" y="2926080"/>
            <a:ext cx="5852160" cy="731520"/>
          </a:xfrm>
          <a:prstGeom prst="rect">
            <a:avLst/>
          </a:prstGeom>
          <a:noFill/>
          <a:ln/>
        </p:spPr>
        <p:txBody>
          <a:bodyPr wrap="square" lIns="0" tIns="0" rIns="0" bIns="0" rtlCol="0" anchor="t"/>
          <a:lstStyle/>
          <a:p>
            <a:pPr indent="0" marL="0">
              <a:buNone/>
            </a:pPr>
            <a:r>
              <a:rPr lang="en-US" sz="1800" dirty="0">
                <a:solidFill>
                  <a:schemeClr val="bg2"/>
                </a:solidFill>
              </a:rPr>
              <a:t>An exploratory analysis of IMDB movies released between 2010 and 2019</a:t>
            </a:r>
            <a:endParaRPr lang="en-US" sz="1800" dirty="0"/>
          </a:p>
        </p:txBody>
      </p:sp>
      <p:sp>
        <p:nvSpPr>
          <p:cNvPr id="4" name="Presenter"/>
          <p:cNvSpPr txBox="1"/>
          <p:nvPr/>
        </p:nvSpPr>
        <p:spPr>
          <a:xfrm>
            <a:off x="640080" y="4206240"/>
            <a:ext cx="6400800" cy="274320"/>
          </a:xfrm>
          <a:prstGeom prst="rect">
            <a:avLst/>
          </a:prstGeom>
          <a:noFill/>
          <a:ln/>
        </p:spPr>
        <p:txBody>
          <a:bodyPr wrap="square" lIns="0" tIns="0" rIns="0" bIns="0" rtlCol="0" anchor="ctr"/>
          <a:lstStyle/>
          <a:p>
            <a:pPr indent="0" marL="0">
              <a:buNone/>
            </a:pPr>
            <a:r>
              <a:rPr lang="en-US" sz="1400" dirty="0">
                <a:solidFill>
                  <a:schemeClr val="accent6"/>
                </a:solidFill>
              </a:rPr>
              <a:t>Nyambu  |  Moringa School, Data Science  |  October 2026</a:t>
            </a:r>
            <a:endParaRPr lang="en-US" sz="1400" dirty="0"/>
          </a:p>
        </p:txBody>
      </p:sp>
      <p:sp>
        <p:nvSpPr>
          <p:cNvPr id="5" name="Title badge"/>
          <p:cNvSpPr/>
          <p:nvPr/>
        </p:nvSpPr>
        <p:spPr>
          <a:xfrm>
            <a:off x="6858000" y="1463040"/>
            <a:ext cx="1737360" cy="1737360"/>
          </a:xfrm>
          <a:prstGeom prst="ellipse">
            <a:avLst/>
          </a:prstGeom>
          <a:solidFill>
            <a:schemeClr val="accent1"/>
          </a:solidFill>
          <a:ln w="12700">
            <a:solidFill>
              <a:schemeClr val="accent1"/>
            </a:solidFill>
            <a:prstDash val="solid"/>
          </a:ln>
        </p:spPr>
      </p:sp>
      <p:pic>
        <p:nvPicPr>
          <p:cNvPr id="6" name="Title icon" descr="Film icon">    </p:cNvPr>
          <p:cNvPicPr>
            <a:picLocks noChangeAspect="1"/>
          </p:cNvPicPr>
          <p:nvPr/>
        </p:nvPicPr>
        <p:blipFill>
          <a:blip r:embed="rId1"/>
          <a:stretch>
            <a:fillRect/>
          </a:stretch>
        </p:blipFill>
        <p:spPr>
          <a:xfrm>
            <a:off x="7315200" y="1920240"/>
            <a:ext cx="822960" cy="8229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2 badge"/>
          <p:cNvSpPr/>
          <p:nvPr/>
        </p:nvSpPr>
        <p:spPr>
          <a:xfrm>
            <a:off x="457200" y="365760"/>
            <a:ext cx="548640" cy="548640"/>
          </a:xfrm>
          <a:prstGeom prst="ellipse">
            <a:avLst/>
          </a:prstGeom>
          <a:solidFill>
            <a:schemeClr val="accent1"/>
          </a:solidFill>
          <a:ln w="12700">
            <a:solidFill>
              <a:schemeClr val="accent1"/>
            </a:solidFill>
            <a:prstDash val="solid"/>
          </a:ln>
        </p:spPr>
      </p:sp>
      <p:pic>
        <p:nvPicPr>
          <p:cNvPr id="3" name="S2 icon" descr="icon">    </p:cNvPr>
          <p:cNvPicPr>
            <a:picLocks noChangeAspect="1"/>
          </p:cNvPicPr>
          <p:nvPr/>
        </p:nvPicPr>
        <p:blipFill>
          <a:blip r:embed="rId1"/>
          <a:stretch>
            <a:fillRect/>
          </a:stretch>
        </p:blipFill>
        <p:spPr>
          <a:xfrm>
            <a:off x="594360" y="502920"/>
            <a:ext cx="274320" cy="274320"/>
          </a:xfrm>
          <a:prstGeom prst="rect">
            <a:avLst/>
          </a:prstGeom>
        </p:spPr>
      </p:pic>
      <p:sp>
        <p:nvSpPr>
          <p:cNvPr id="4" name="Text 0"/>
          <p:cNvSpPr/>
          <p:nvPr>
            <p:ph idx="100" type="title" hasCustomPrompt="1"/>
          </p:nvPr>
        </p:nvSpPr>
        <p:spPr>
          <a:xfrm>
            <a:off x="1188720" y="320040"/>
            <a:ext cx="7498080" cy="640080"/>
          </a:xfrm>
          <a:prstGeom prst="rect">
            <a:avLst/>
          </a:prstGeom>
          <a:noFill/>
          <a:ln/>
        </p:spPr>
        <p:txBody>
          <a:bodyPr wrap="square" lIns="0" tIns="0" rIns="0" bIns="0" rtlCol="0" anchor="ctr"/>
          <a:lstStyle/>
          <a:p>
            <a:pPr indent="0" marL="0">
              <a:buNone/>
            </a:pPr>
            <a:r>
              <a:rPr lang="en-US" sz="3000" b="1" dirty="0">
                <a:solidFill>
                  <a:schemeClr val="tx1"/>
                </a:solidFill>
              </a:rPr>
              <a:t>A decade of movies at a glance</a:t>
            </a:r>
            <a:endParaRPr lang="en-US" sz="3000" dirty="0"/>
          </a:p>
        </p:txBody>
      </p:sp>
      <p:sp>
        <p:nvSpPr>
          <p:cNvPr id="5" name="Stat card 1"/>
          <p:cNvSpPr/>
          <p:nvPr/>
        </p:nvSpPr>
        <p:spPr>
          <a:xfrm>
            <a:off x="457200" y="1188720"/>
            <a:ext cx="3931920" cy="868680"/>
          </a:xfrm>
          <a:prstGeom prst="roundRect">
            <a:avLst>
              <a:gd name="adj" fmla="val 10526"/>
            </a:avLst>
          </a:prstGeom>
          <a:solidFill>
            <a:schemeClr val="bg2"/>
          </a:solidFill>
          <a:ln w="12700">
            <a:solidFill>
              <a:schemeClr val="bg2"/>
            </a:solidFill>
            <a:prstDash val="solid"/>
          </a:ln>
        </p:spPr>
      </p:sp>
      <p:sp>
        <p:nvSpPr>
          <p:cNvPr id="6" name="Stat value 1"/>
          <p:cNvSpPr txBox="1"/>
          <p:nvPr/>
        </p:nvSpPr>
        <p:spPr>
          <a:xfrm>
            <a:off x="640080" y="1188720"/>
            <a:ext cx="1645920" cy="868680"/>
          </a:xfrm>
          <a:prstGeom prst="rect">
            <a:avLst/>
          </a:prstGeom>
          <a:noFill/>
          <a:ln/>
        </p:spPr>
        <p:txBody>
          <a:bodyPr wrap="square" lIns="0" tIns="0" rIns="0" bIns="0" rtlCol="0" anchor="ctr"/>
          <a:lstStyle/>
          <a:p>
            <a:pPr indent="0" marL="0">
              <a:buNone/>
            </a:pPr>
            <a:r>
              <a:rPr lang="en-US" sz="2800" b="1" dirty="0">
                <a:solidFill>
                  <a:schemeClr val="accent2"/>
                </a:solidFill>
              </a:rPr>
              <a:t>145,081</a:t>
            </a:r>
            <a:endParaRPr lang="en-US" sz="2800" dirty="0"/>
          </a:p>
        </p:txBody>
      </p:sp>
      <p:sp>
        <p:nvSpPr>
          <p:cNvPr id="7" name="Stat label 1"/>
          <p:cNvSpPr txBox="1"/>
          <p:nvPr/>
        </p:nvSpPr>
        <p:spPr>
          <a:xfrm>
            <a:off x="2286000" y="1188720"/>
            <a:ext cx="1965960" cy="868680"/>
          </a:xfrm>
          <a:prstGeom prst="rect">
            <a:avLst/>
          </a:prstGeom>
          <a:noFill/>
          <a:ln/>
        </p:spPr>
        <p:txBody>
          <a:bodyPr wrap="square" lIns="0" tIns="0" rIns="0" bIns="0" rtlCol="0" anchor="ctr"/>
          <a:lstStyle/>
          <a:p>
            <a:pPr indent="0" marL="0">
              <a:buNone/>
            </a:pPr>
            <a:r>
              <a:rPr lang="en-US" sz="1400" dirty="0">
                <a:solidFill>
                  <a:schemeClr val="tx1"/>
                </a:solidFill>
              </a:rPr>
              <a:t>movies released between 2010 and 2019</a:t>
            </a:r>
            <a:endParaRPr lang="en-US" sz="1400" dirty="0"/>
          </a:p>
        </p:txBody>
      </p:sp>
      <p:sp>
        <p:nvSpPr>
          <p:cNvPr id="8" name="Stat card 2"/>
          <p:cNvSpPr/>
          <p:nvPr/>
        </p:nvSpPr>
        <p:spPr>
          <a:xfrm>
            <a:off x="457200" y="2240280"/>
            <a:ext cx="3931920" cy="868680"/>
          </a:xfrm>
          <a:prstGeom prst="roundRect">
            <a:avLst>
              <a:gd name="adj" fmla="val 10526"/>
            </a:avLst>
          </a:prstGeom>
          <a:solidFill>
            <a:schemeClr val="bg2"/>
          </a:solidFill>
          <a:ln w="12700">
            <a:solidFill>
              <a:schemeClr val="bg2"/>
            </a:solidFill>
            <a:prstDash val="solid"/>
          </a:ln>
        </p:spPr>
      </p:sp>
      <p:sp>
        <p:nvSpPr>
          <p:cNvPr id="9" name="Stat value 2"/>
          <p:cNvSpPr txBox="1"/>
          <p:nvPr/>
        </p:nvSpPr>
        <p:spPr>
          <a:xfrm>
            <a:off x="640080" y="2240280"/>
            <a:ext cx="1645920" cy="868680"/>
          </a:xfrm>
          <a:prstGeom prst="rect">
            <a:avLst/>
          </a:prstGeom>
          <a:noFill/>
          <a:ln/>
        </p:spPr>
        <p:txBody>
          <a:bodyPr wrap="square" lIns="0" tIns="0" rIns="0" bIns="0" rtlCol="0" anchor="ctr"/>
          <a:lstStyle/>
          <a:p>
            <a:pPr indent="0" marL="0">
              <a:buNone/>
            </a:pPr>
            <a:r>
              <a:rPr lang="en-US" sz="2800" b="1" dirty="0">
                <a:solidFill>
                  <a:schemeClr val="accent2"/>
                </a:solidFill>
              </a:rPr>
              <a:t>73,856</a:t>
            </a:r>
            <a:endParaRPr lang="en-US" sz="2800" dirty="0"/>
          </a:p>
        </p:txBody>
      </p:sp>
      <p:sp>
        <p:nvSpPr>
          <p:cNvPr id="10" name="Stat label 2"/>
          <p:cNvSpPr txBox="1"/>
          <p:nvPr/>
        </p:nvSpPr>
        <p:spPr>
          <a:xfrm>
            <a:off x="2286000" y="2240280"/>
            <a:ext cx="1965960" cy="868680"/>
          </a:xfrm>
          <a:prstGeom prst="rect">
            <a:avLst/>
          </a:prstGeom>
          <a:noFill/>
          <a:ln/>
        </p:spPr>
        <p:txBody>
          <a:bodyPr wrap="square" lIns="0" tIns="0" rIns="0" bIns="0" rtlCol="0" anchor="ctr"/>
          <a:lstStyle/>
          <a:p>
            <a:pPr indent="0" marL="0">
              <a:buNone/>
            </a:pPr>
            <a:r>
              <a:rPr lang="en-US" sz="1400" dirty="0">
                <a:solidFill>
                  <a:schemeClr val="tx1"/>
                </a:solidFill>
              </a:rPr>
              <a:t>have a rating (about half of all movies)</a:t>
            </a:r>
            <a:endParaRPr lang="en-US" sz="1400" dirty="0"/>
          </a:p>
        </p:txBody>
      </p:sp>
      <p:sp>
        <p:nvSpPr>
          <p:cNvPr id="11" name="Stat card 3"/>
          <p:cNvSpPr/>
          <p:nvPr/>
        </p:nvSpPr>
        <p:spPr>
          <a:xfrm>
            <a:off x="457200" y="3291840"/>
            <a:ext cx="3931920" cy="868680"/>
          </a:xfrm>
          <a:prstGeom prst="roundRect">
            <a:avLst>
              <a:gd name="adj" fmla="val 10526"/>
            </a:avLst>
          </a:prstGeom>
          <a:solidFill>
            <a:schemeClr val="bg2"/>
          </a:solidFill>
          <a:ln w="12700">
            <a:solidFill>
              <a:schemeClr val="bg2"/>
            </a:solidFill>
            <a:prstDash val="solid"/>
          </a:ln>
        </p:spPr>
      </p:sp>
      <p:sp>
        <p:nvSpPr>
          <p:cNvPr id="12" name="Stat value 3"/>
          <p:cNvSpPr txBox="1"/>
          <p:nvPr/>
        </p:nvSpPr>
        <p:spPr>
          <a:xfrm>
            <a:off x="640080" y="3291840"/>
            <a:ext cx="1645920" cy="868680"/>
          </a:xfrm>
          <a:prstGeom prst="rect">
            <a:avLst/>
          </a:prstGeom>
          <a:noFill/>
          <a:ln/>
        </p:spPr>
        <p:txBody>
          <a:bodyPr wrap="square" lIns="0" tIns="0" rIns="0" bIns="0" rtlCol="0" anchor="ctr"/>
          <a:lstStyle/>
          <a:p>
            <a:pPr indent="0" marL="0">
              <a:buNone/>
            </a:pPr>
            <a:r>
              <a:rPr lang="en-US" sz="2800" b="1" dirty="0">
                <a:solidFill>
                  <a:schemeClr val="accent2"/>
                </a:solidFill>
              </a:rPr>
              <a:t>17,504</a:t>
            </a:r>
            <a:endParaRPr lang="en-US" sz="2800" dirty="0"/>
          </a:p>
        </p:txBody>
      </p:sp>
      <p:sp>
        <p:nvSpPr>
          <p:cNvPr id="13" name="Stat label 3"/>
          <p:cNvSpPr txBox="1"/>
          <p:nvPr/>
        </p:nvSpPr>
        <p:spPr>
          <a:xfrm>
            <a:off x="2286000" y="3291840"/>
            <a:ext cx="1965960" cy="868680"/>
          </a:xfrm>
          <a:prstGeom prst="rect">
            <a:avLst/>
          </a:prstGeom>
          <a:noFill/>
          <a:ln/>
        </p:spPr>
        <p:txBody>
          <a:bodyPr wrap="square" lIns="0" tIns="0" rIns="0" bIns="0" rtlCol="0" anchor="ctr"/>
          <a:lstStyle/>
          <a:p>
            <a:pPr indent="0" marL="0">
              <a:buNone/>
            </a:pPr>
            <a:r>
              <a:rPr lang="en-US" sz="1400" dirty="0">
                <a:solidFill>
                  <a:schemeClr val="tx1"/>
                </a:solidFill>
              </a:rPr>
              <a:t>movies released at the 2017 peak</a:t>
            </a:r>
            <a:endParaRPr lang="en-US" sz="1400" dirty="0"/>
          </a:p>
        </p:txBody>
      </p:sp>
      <p:graphicFrame>
        <p:nvGraphicFramePr>
          <p:cNvPr id="14" name="Chart 0" descr=""/>
          <p:cNvGraphicFramePr/>
          <p:nvPr/>
        </p:nvGraphicFramePr>
        <p:xfrm>
          <a:off x="4663440" y="1143000"/>
          <a:ext cx="4023360" cy="3017520"/>
        </p:xfrm>
        <a:graphic xmlns:a="http://schemas.openxmlformats.org/drawingml/2006/main">
          <a:graphicData uri="http://schemas.openxmlformats.org/drawingml/2006/chart">
            <c:chart xmlns:c="http://schemas.openxmlformats.org/drawingml/2006/chart" r:id="rId2"/>
          </a:graphicData>
        </a:graphic>
      </p:graphicFrame>
      <p:sp>
        <p:nvSpPr>
          <p:cNvPr id="15" name="Takeaway"/>
          <p:cNvSpPr txBox="1"/>
          <p:nvPr/>
        </p:nvSpPr>
        <p:spPr>
          <a:xfrm>
            <a:off x="457200" y="4251960"/>
            <a:ext cx="8229600" cy="502920"/>
          </a:xfrm>
          <a:prstGeom prst="rect">
            <a:avLst/>
          </a:prstGeom>
          <a:noFill/>
          <a:ln/>
        </p:spPr>
        <p:txBody>
          <a:bodyPr wrap="square" lIns="0" tIns="0" rIns="0" bIns="0" rtlCol="0" anchor="ctr"/>
          <a:lstStyle/>
          <a:p>
            <a:pPr indent="0" marL="0">
              <a:buNone/>
            </a:pPr>
            <a:r>
              <a:rPr lang="en-US" sz="1400" dirty="0">
                <a:solidFill>
                  <a:schemeClr val="tx1"/>
                </a:solidFill>
              </a:rPr>
              <a:t>Average rating edged up from 6.26 (2010) to 6.42 (2018). The 2019 figures look incomplete, so we treat them with caution.</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3 badge"/>
          <p:cNvSpPr/>
          <p:nvPr/>
        </p:nvSpPr>
        <p:spPr>
          <a:xfrm>
            <a:off x="457200" y="365760"/>
            <a:ext cx="548640" cy="548640"/>
          </a:xfrm>
          <a:prstGeom prst="ellipse">
            <a:avLst/>
          </a:prstGeom>
          <a:solidFill>
            <a:schemeClr val="accent1"/>
          </a:solidFill>
          <a:ln w="12700">
            <a:solidFill>
              <a:schemeClr val="accent1"/>
            </a:solidFill>
            <a:prstDash val="solid"/>
          </a:ln>
        </p:spPr>
      </p:sp>
      <p:pic>
        <p:nvPicPr>
          <p:cNvPr id="3" name="S3 icon" descr="icon">    </p:cNvPr>
          <p:cNvPicPr>
            <a:picLocks noChangeAspect="1"/>
          </p:cNvPicPr>
          <p:nvPr/>
        </p:nvPicPr>
        <p:blipFill>
          <a:blip r:embed="rId1"/>
          <a:stretch>
            <a:fillRect/>
          </a:stretch>
        </p:blipFill>
        <p:spPr>
          <a:xfrm>
            <a:off x="594360" y="502920"/>
            <a:ext cx="274320" cy="274320"/>
          </a:xfrm>
          <a:prstGeom prst="rect">
            <a:avLst/>
          </a:prstGeom>
        </p:spPr>
      </p:pic>
      <p:sp>
        <p:nvSpPr>
          <p:cNvPr id="4" name="Text 0"/>
          <p:cNvSpPr/>
          <p:nvPr>
            <p:ph idx="100" type="title" hasCustomPrompt="1"/>
          </p:nvPr>
        </p:nvSpPr>
        <p:spPr>
          <a:xfrm>
            <a:off x="1188720" y="320040"/>
            <a:ext cx="7498080" cy="640080"/>
          </a:xfrm>
          <a:prstGeom prst="rect">
            <a:avLst/>
          </a:prstGeom>
          <a:noFill/>
          <a:ln/>
        </p:spPr>
        <p:txBody>
          <a:bodyPr wrap="square" lIns="0" tIns="0" rIns="0" bIns="0" rtlCol="0" anchor="ctr"/>
          <a:lstStyle/>
          <a:p>
            <a:pPr indent="0" marL="0">
              <a:buNone/>
            </a:pPr>
            <a:r>
              <a:rPr lang="en-US" sz="3000" b="1" dirty="0">
                <a:solidFill>
                  <a:schemeClr val="tx1"/>
                </a:solidFill>
              </a:rPr>
              <a:t>Quality and popularity differ</a:t>
            </a:r>
            <a:endParaRPr lang="en-US" sz="3000" dirty="0"/>
          </a:p>
        </p:txBody>
      </p:sp>
      <p:graphicFrame>
        <p:nvGraphicFramePr>
          <p:cNvPr id="5" name="Chart 0" descr=""/>
          <p:cNvGraphicFramePr/>
          <p:nvPr/>
        </p:nvGraphicFramePr>
        <p:xfrm>
          <a:off x="457200" y="1097280"/>
          <a:ext cx="4023360" cy="3017520"/>
        </p:xfrm>
        <a:graphic xmlns:a="http://schemas.openxmlformats.org/drawingml/2006/main">
          <a:graphicData uri="http://schemas.openxmlformats.org/drawingml/2006/chart">
            <c:chart xmlns:c="http://schemas.openxmlformats.org/drawingml/2006/chart" r:id="rId2"/>
          </a:graphicData>
        </a:graphic>
      </p:graphicFrame>
      <p:graphicFrame>
        <p:nvGraphicFramePr>
          <p:cNvPr id="6" name="Chart 1" descr=""/>
          <p:cNvGraphicFramePr/>
          <p:nvPr/>
        </p:nvGraphicFramePr>
        <p:xfrm>
          <a:off x="4663440" y="1097280"/>
          <a:ext cx="4023360" cy="3017520"/>
        </p:xfrm>
        <a:graphic xmlns:a="http://schemas.openxmlformats.org/drawingml/2006/main">
          <a:graphicData uri="http://schemas.openxmlformats.org/drawingml/2006/chart">
            <c:chart xmlns:c="http://schemas.openxmlformats.org/drawingml/2006/chart" r:id="rId3"/>
          </a:graphicData>
        </a:graphic>
      </p:graphicFrame>
      <p:sp>
        <p:nvSpPr>
          <p:cNvPr id="7" name="Takeaway"/>
          <p:cNvSpPr txBox="1"/>
          <p:nvPr/>
        </p:nvSpPr>
        <p:spPr>
          <a:xfrm>
            <a:off x="457200" y="4160520"/>
            <a:ext cx="8229600" cy="594360"/>
          </a:xfrm>
          <a:prstGeom prst="rect">
            <a:avLst/>
          </a:prstGeom>
          <a:noFill/>
          <a:ln/>
        </p:spPr>
        <p:txBody>
          <a:bodyPr wrap="square" lIns="0" tIns="0" rIns="0" bIns="0" rtlCol="0" anchor="ctr"/>
          <a:lstStyle/>
          <a:p>
            <a:pPr indent="0" marL="0">
              <a:buNone/>
            </a:pPr>
            <a:r>
              <a:rPr lang="en-US" sz="1400" dirty="0">
                <a:solidFill>
                  <a:schemeClr val="tx1"/>
                </a:solidFill>
              </a:rPr>
              <a:t>Documentaries score highest but reach few viewers. Adventure and Sci-Fi reach the most viewers but score lower. Biography and Animation (gold) do well on both.</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4 badge"/>
          <p:cNvSpPr/>
          <p:nvPr/>
        </p:nvSpPr>
        <p:spPr>
          <a:xfrm>
            <a:off x="457200" y="365760"/>
            <a:ext cx="548640" cy="548640"/>
          </a:xfrm>
          <a:prstGeom prst="ellipse">
            <a:avLst/>
          </a:prstGeom>
          <a:solidFill>
            <a:schemeClr val="accent1"/>
          </a:solidFill>
          <a:ln w="12700">
            <a:solidFill>
              <a:schemeClr val="accent1"/>
            </a:solidFill>
            <a:prstDash val="solid"/>
          </a:ln>
        </p:spPr>
      </p:sp>
      <p:pic>
        <p:nvPicPr>
          <p:cNvPr id="3" name="S4 icon" descr="icon">    </p:cNvPr>
          <p:cNvPicPr>
            <a:picLocks noChangeAspect="1"/>
          </p:cNvPicPr>
          <p:nvPr/>
        </p:nvPicPr>
        <p:blipFill>
          <a:blip r:embed="rId1"/>
          <a:stretch>
            <a:fillRect/>
          </a:stretch>
        </p:blipFill>
        <p:spPr>
          <a:xfrm>
            <a:off x="594360" y="502920"/>
            <a:ext cx="274320" cy="274320"/>
          </a:xfrm>
          <a:prstGeom prst="rect">
            <a:avLst/>
          </a:prstGeom>
        </p:spPr>
      </p:pic>
      <p:sp>
        <p:nvSpPr>
          <p:cNvPr id="4" name="Text 0"/>
          <p:cNvSpPr/>
          <p:nvPr>
            <p:ph idx="100" type="title" hasCustomPrompt="1"/>
          </p:nvPr>
        </p:nvSpPr>
        <p:spPr>
          <a:xfrm>
            <a:off x="1188720" y="320040"/>
            <a:ext cx="7498080" cy="640080"/>
          </a:xfrm>
          <a:prstGeom prst="rect">
            <a:avLst/>
          </a:prstGeom>
          <a:noFill/>
          <a:ln/>
        </p:spPr>
        <p:txBody>
          <a:bodyPr wrap="square" lIns="0" tIns="0" rIns="0" bIns="0" rtlCol="0" anchor="ctr"/>
          <a:lstStyle/>
          <a:p>
            <a:pPr indent="0" marL="0">
              <a:buNone/>
            </a:pPr>
            <a:r>
              <a:rPr lang="en-US" sz="3000" b="1" dirty="0">
                <a:solidFill>
                  <a:schemeClr val="tx1"/>
                </a:solidFill>
              </a:rPr>
              <a:t>The business question</a:t>
            </a:r>
            <a:endParaRPr lang="en-US" sz="3000" dirty="0"/>
          </a:p>
        </p:txBody>
      </p:sp>
      <p:sp>
        <p:nvSpPr>
          <p:cNvPr id="5" name="Question card"/>
          <p:cNvSpPr/>
          <p:nvPr/>
        </p:nvSpPr>
        <p:spPr>
          <a:xfrm>
            <a:off x="457200" y="1143000"/>
            <a:ext cx="8229600" cy="1097280"/>
          </a:xfrm>
          <a:prstGeom prst="roundRect">
            <a:avLst>
              <a:gd name="adj" fmla="val 8333"/>
            </a:avLst>
          </a:prstGeom>
          <a:solidFill>
            <a:schemeClr val="tx1"/>
          </a:solidFill>
          <a:ln w="12700">
            <a:solidFill>
              <a:schemeClr val="tx1"/>
            </a:solidFill>
            <a:prstDash val="solid"/>
          </a:ln>
        </p:spPr>
      </p:sp>
      <p:sp>
        <p:nvSpPr>
          <p:cNvPr id="6" name="Question label"/>
          <p:cNvSpPr txBox="1"/>
          <p:nvPr/>
        </p:nvSpPr>
        <p:spPr>
          <a:xfrm>
            <a:off x="731520" y="1234440"/>
            <a:ext cx="7680960" cy="274320"/>
          </a:xfrm>
          <a:prstGeom prst="rect">
            <a:avLst/>
          </a:prstGeom>
          <a:noFill/>
          <a:ln/>
        </p:spPr>
        <p:txBody>
          <a:bodyPr wrap="square" lIns="0" tIns="0" rIns="0" bIns="0" rtlCol="0" anchor="ctr"/>
          <a:lstStyle/>
          <a:p>
            <a:pPr indent="0" marL="0">
              <a:buNone/>
            </a:pPr>
            <a:r>
              <a:rPr lang="en-US" sz="1200" b="1" dirty="0">
                <a:solidFill>
                  <a:schemeClr val="accent1"/>
                </a:solidFill>
              </a:rPr>
              <a:t>BUSINESS QUESTION</a:t>
            </a:r>
            <a:endParaRPr lang="en-US" sz="1200" dirty="0"/>
          </a:p>
        </p:txBody>
      </p:sp>
      <p:sp>
        <p:nvSpPr>
          <p:cNvPr id="7" name="Question text"/>
          <p:cNvSpPr txBox="1"/>
          <p:nvPr/>
        </p:nvSpPr>
        <p:spPr>
          <a:xfrm>
            <a:off x="731520" y="1508760"/>
            <a:ext cx="7680960" cy="640080"/>
          </a:xfrm>
          <a:prstGeom prst="rect">
            <a:avLst/>
          </a:prstGeom>
          <a:noFill/>
          <a:ln/>
        </p:spPr>
        <p:txBody>
          <a:bodyPr wrap="square" lIns="0" tIns="0" rIns="0" bIns="0" rtlCol="0" anchor="t"/>
          <a:lstStyle/>
          <a:p>
            <a:pPr indent="0" marL="0">
              <a:buNone/>
            </a:pPr>
            <a:r>
              <a:rPr lang="en-US" sz="1800" dirty="0">
                <a:solidFill>
                  <a:schemeClr val="bg1"/>
                </a:solidFill>
              </a:rPr>
              <a:t>Which movie genres should a studio invest in to earn both high ratings and strong audience engagement?</a:t>
            </a:r>
            <a:endParaRPr lang="en-US" sz="1800" dirty="0"/>
          </a:p>
        </p:txBody>
      </p:sp>
      <p:sp>
        <p:nvSpPr>
          <p:cNvPr id="8" name="Early answer heading"/>
          <p:cNvSpPr txBox="1"/>
          <p:nvPr/>
        </p:nvSpPr>
        <p:spPr>
          <a:xfrm>
            <a:off x="457200" y="2423160"/>
            <a:ext cx="4023360" cy="320040"/>
          </a:xfrm>
          <a:prstGeom prst="rect">
            <a:avLst/>
          </a:prstGeom>
          <a:noFill/>
          <a:ln/>
        </p:spPr>
        <p:txBody>
          <a:bodyPr wrap="square" lIns="0" tIns="0" rIns="0" bIns="0" rtlCol="0" anchor="ctr"/>
          <a:lstStyle/>
          <a:p>
            <a:pPr indent="0" marL="0">
              <a:buNone/>
            </a:pPr>
            <a:r>
              <a:rPr lang="en-US" sz="1600" b="1" dirty="0">
                <a:solidFill>
                  <a:schemeClr val="tx1"/>
                </a:solidFill>
              </a:rPr>
              <a:t>Early answer</a:t>
            </a:r>
            <a:endParaRPr lang="en-US" sz="1600" dirty="0"/>
          </a:p>
        </p:txBody>
      </p:sp>
      <p:sp>
        <p:nvSpPr>
          <p:cNvPr id="9" name="Genre card 1"/>
          <p:cNvSpPr/>
          <p:nvPr/>
        </p:nvSpPr>
        <p:spPr>
          <a:xfrm>
            <a:off x="457200" y="2834640"/>
            <a:ext cx="1920240" cy="1691640"/>
          </a:xfrm>
          <a:prstGeom prst="roundRect">
            <a:avLst>
              <a:gd name="adj" fmla="val 5405"/>
            </a:avLst>
          </a:prstGeom>
          <a:solidFill>
            <a:schemeClr val="bg2"/>
          </a:solidFill>
          <a:ln w="12700">
            <a:solidFill>
              <a:schemeClr val="bg2"/>
            </a:solidFill>
            <a:prstDash val="solid"/>
          </a:ln>
        </p:spPr>
      </p:sp>
      <p:sp>
        <p:nvSpPr>
          <p:cNvPr id="10" name="Genre name 1"/>
          <p:cNvSpPr txBox="1"/>
          <p:nvPr/>
        </p:nvSpPr>
        <p:spPr>
          <a:xfrm>
            <a:off x="594360" y="2926080"/>
            <a:ext cx="1645920" cy="320040"/>
          </a:xfrm>
          <a:prstGeom prst="rect">
            <a:avLst/>
          </a:prstGeom>
          <a:noFill/>
          <a:ln/>
        </p:spPr>
        <p:txBody>
          <a:bodyPr wrap="square" lIns="0" tIns="0" rIns="0" bIns="0" rtlCol="0" anchor="ctr"/>
          <a:lstStyle/>
          <a:p>
            <a:pPr indent="0" marL="0">
              <a:buNone/>
            </a:pPr>
            <a:r>
              <a:rPr lang="en-US" sz="1600" b="1" dirty="0">
                <a:solidFill>
                  <a:schemeClr val="accent2"/>
                </a:solidFill>
              </a:rPr>
              <a:t>Biography</a:t>
            </a:r>
            <a:endParaRPr lang="en-US" sz="1600" dirty="0"/>
          </a:p>
        </p:txBody>
      </p:sp>
      <p:sp>
        <p:nvSpPr>
          <p:cNvPr id="11" name="Genre rating 1"/>
          <p:cNvSpPr txBox="1"/>
          <p:nvPr/>
        </p:nvSpPr>
        <p:spPr>
          <a:xfrm>
            <a:off x="594360" y="3291840"/>
            <a:ext cx="1645920" cy="457200"/>
          </a:xfrm>
          <a:prstGeom prst="rect">
            <a:avLst/>
          </a:prstGeom>
          <a:noFill/>
          <a:ln/>
        </p:spPr>
        <p:txBody>
          <a:bodyPr wrap="square" lIns="0" tIns="0" rIns="0" bIns="0" rtlCol="0" anchor="ctr"/>
          <a:lstStyle/>
          <a:p>
            <a:pPr indent="0" marL="0">
              <a:buNone/>
            </a:pPr>
            <a:r>
              <a:rPr lang="en-US" sz="2800" b="1" dirty="0">
                <a:solidFill>
                  <a:schemeClr val="tx1"/>
                </a:solidFill>
              </a:rPr>
              <a:t>6.96</a:t>
            </a:r>
            <a:endParaRPr lang="en-US" sz="2800" dirty="0"/>
          </a:p>
        </p:txBody>
      </p:sp>
      <p:sp>
        <p:nvSpPr>
          <p:cNvPr id="12" name="Rating label 1"/>
          <p:cNvSpPr txBox="1"/>
          <p:nvPr/>
        </p:nvSpPr>
        <p:spPr>
          <a:xfrm>
            <a:off x="594360" y="3749040"/>
            <a:ext cx="1645920" cy="228600"/>
          </a:xfrm>
          <a:prstGeom prst="rect">
            <a:avLst/>
          </a:prstGeom>
          <a:noFill/>
          <a:ln/>
        </p:spPr>
        <p:txBody>
          <a:bodyPr wrap="square" lIns="0" tIns="0" rIns="0" bIns="0" rtlCol="0" anchor="ctr"/>
          <a:lstStyle/>
          <a:p>
            <a:pPr indent="0" marL="0">
              <a:buNone/>
            </a:pPr>
            <a:r>
              <a:rPr lang="en-US" sz="1200" dirty="0">
                <a:solidFill>
                  <a:schemeClr val="accent5"/>
                </a:solidFill>
              </a:rPr>
              <a:t>average rating</a:t>
            </a:r>
            <a:endParaRPr lang="en-US" sz="1200" dirty="0"/>
          </a:p>
        </p:txBody>
      </p:sp>
      <p:sp>
        <p:nvSpPr>
          <p:cNvPr id="13" name="Votes 1"/>
          <p:cNvSpPr txBox="1"/>
          <p:nvPr/>
        </p:nvSpPr>
        <p:spPr>
          <a:xfrm>
            <a:off x="594360" y="4069080"/>
            <a:ext cx="1691640" cy="320040"/>
          </a:xfrm>
          <a:prstGeom prst="rect">
            <a:avLst/>
          </a:prstGeom>
          <a:noFill/>
          <a:ln/>
        </p:spPr>
        <p:txBody>
          <a:bodyPr wrap="square" lIns="0" tIns="0" rIns="0" bIns="0" rtlCol="0" anchor="ctr"/>
          <a:lstStyle/>
          <a:p>
            <a:pPr indent="0" marL="0">
              <a:buNone/>
            </a:pPr>
            <a:r>
              <a:rPr lang="en-US" sz="1400" dirty="0">
                <a:solidFill>
                  <a:schemeClr val="tx1"/>
                </a:solidFill>
              </a:rPr>
              <a:t>30,359 average votes</a:t>
            </a:r>
            <a:endParaRPr lang="en-US" sz="1400" dirty="0"/>
          </a:p>
        </p:txBody>
      </p:sp>
      <p:sp>
        <p:nvSpPr>
          <p:cNvPr id="14" name="Genre card 2"/>
          <p:cNvSpPr/>
          <p:nvPr/>
        </p:nvSpPr>
        <p:spPr>
          <a:xfrm>
            <a:off x="2560320" y="2834640"/>
            <a:ext cx="1920240" cy="1691640"/>
          </a:xfrm>
          <a:prstGeom prst="roundRect">
            <a:avLst>
              <a:gd name="adj" fmla="val 5405"/>
            </a:avLst>
          </a:prstGeom>
          <a:solidFill>
            <a:schemeClr val="bg2"/>
          </a:solidFill>
          <a:ln w="12700">
            <a:solidFill>
              <a:schemeClr val="bg2"/>
            </a:solidFill>
            <a:prstDash val="solid"/>
          </a:ln>
        </p:spPr>
      </p:sp>
      <p:sp>
        <p:nvSpPr>
          <p:cNvPr id="15" name="Genre name 2"/>
          <p:cNvSpPr txBox="1"/>
          <p:nvPr/>
        </p:nvSpPr>
        <p:spPr>
          <a:xfrm>
            <a:off x="2697480" y="2926080"/>
            <a:ext cx="1645920" cy="320040"/>
          </a:xfrm>
          <a:prstGeom prst="rect">
            <a:avLst/>
          </a:prstGeom>
          <a:noFill/>
          <a:ln/>
        </p:spPr>
        <p:txBody>
          <a:bodyPr wrap="square" lIns="0" tIns="0" rIns="0" bIns="0" rtlCol="0" anchor="ctr"/>
          <a:lstStyle/>
          <a:p>
            <a:pPr indent="0" marL="0">
              <a:buNone/>
            </a:pPr>
            <a:r>
              <a:rPr lang="en-US" sz="1600" b="1" dirty="0">
                <a:solidFill>
                  <a:schemeClr val="accent2"/>
                </a:solidFill>
              </a:rPr>
              <a:t>Animation</a:t>
            </a:r>
            <a:endParaRPr lang="en-US" sz="1600" dirty="0"/>
          </a:p>
        </p:txBody>
      </p:sp>
      <p:sp>
        <p:nvSpPr>
          <p:cNvPr id="16" name="Genre rating 2"/>
          <p:cNvSpPr txBox="1"/>
          <p:nvPr/>
        </p:nvSpPr>
        <p:spPr>
          <a:xfrm>
            <a:off x="2697480" y="3291840"/>
            <a:ext cx="1645920" cy="457200"/>
          </a:xfrm>
          <a:prstGeom prst="rect">
            <a:avLst/>
          </a:prstGeom>
          <a:noFill/>
          <a:ln/>
        </p:spPr>
        <p:txBody>
          <a:bodyPr wrap="square" lIns="0" tIns="0" rIns="0" bIns="0" rtlCol="0" anchor="ctr"/>
          <a:lstStyle/>
          <a:p>
            <a:pPr indent="0" marL="0">
              <a:buNone/>
            </a:pPr>
            <a:r>
              <a:rPr lang="en-US" sz="2800" b="1" dirty="0">
                <a:solidFill>
                  <a:schemeClr val="tx1"/>
                </a:solidFill>
              </a:rPr>
              <a:t>6.68</a:t>
            </a:r>
            <a:endParaRPr lang="en-US" sz="2800" dirty="0"/>
          </a:p>
        </p:txBody>
      </p:sp>
      <p:sp>
        <p:nvSpPr>
          <p:cNvPr id="17" name="Rating label 2"/>
          <p:cNvSpPr txBox="1"/>
          <p:nvPr/>
        </p:nvSpPr>
        <p:spPr>
          <a:xfrm>
            <a:off x="2697480" y="3749040"/>
            <a:ext cx="1645920" cy="228600"/>
          </a:xfrm>
          <a:prstGeom prst="rect">
            <a:avLst/>
          </a:prstGeom>
          <a:noFill/>
          <a:ln/>
        </p:spPr>
        <p:txBody>
          <a:bodyPr wrap="square" lIns="0" tIns="0" rIns="0" bIns="0" rtlCol="0" anchor="ctr"/>
          <a:lstStyle/>
          <a:p>
            <a:pPr indent="0" marL="0">
              <a:buNone/>
            </a:pPr>
            <a:r>
              <a:rPr lang="en-US" sz="1200" dirty="0">
                <a:solidFill>
                  <a:schemeClr val="accent5"/>
                </a:solidFill>
              </a:rPr>
              <a:t>average rating</a:t>
            </a:r>
            <a:endParaRPr lang="en-US" sz="1200" dirty="0"/>
          </a:p>
        </p:txBody>
      </p:sp>
      <p:sp>
        <p:nvSpPr>
          <p:cNvPr id="18" name="Votes 2"/>
          <p:cNvSpPr txBox="1"/>
          <p:nvPr/>
        </p:nvSpPr>
        <p:spPr>
          <a:xfrm>
            <a:off x="2697480" y="4069080"/>
            <a:ext cx="1691640" cy="320040"/>
          </a:xfrm>
          <a:prstGeom prst="rect">
            <a:avLst/>
          </a:prstGeom>
          <a:noFill/>
          <a:ln/>
        </p:spPr>
        <p:txBody>
          <a:bodyPr wrap="square" lIns="0" tIns="0" rIns="0" bIns="0" rtlCol="0" anchor="ctr"/>
          <a:lstStyle/>
          <a:p>
            <a:pPr indent="0" marL="0">
              <a:buNone/>
            </a:pPr>
            <a:r>
              <a:rPr lang="en-US" sz="1400" dirty="0">
                <a:solidFill>
                  <a:schemeClr val="tx1"/>
                </a:solidFill>
              </a:rPr>
              <a:t>40,310 average votes</a:t>
            </a:r>
            <a:endParaRPr lang="en-US" sz="1400" dirty="0"/>
          </a:p>
        </p:txBody>
      </p:sp>
      <p:sp>
        <p:nvSpPr>
          <p:cNvPr id="19" name="Test heading"/>
          <p:cNvSpPr txBox="1"/>
          <p:nvPr/>
        </p:nvSpPr>
        <p:spPr>
          <a:xfrm>
            <a:off x="4754880" y="2423160"/>
            <a:ext cx="3931920" cy="320040"/>
          </a:xfrm>
          <a:prstGeom prst="rect">
            <a:avLst/>
          </a:prstGeom>
          <a:noFill/>
          <a:ln/>
        </p:spPr>
        <p:txBody>
          <a:bodyPr wrap="square" lIns="0" tIns="0" rIns="0" bIns="0" rtlCol="0" anchor="ctr"/>
          <a:lstStyle/>
          <a:p>
            <a:pPr indent="0" marL="0">
              <a:buNone/>
            </a:pPr>
            <a:r>
              <a:rPr lang="en-US" sz="1600" b="1" dirty="0">
                <a:solidFill>
                  <a:schemeClr val="tx1"/>
                </a:solidFill>
              </a:rPr>
              <a:t>How we would test it</a:t>
            </a:r>
            <a:endParaRPr lang="en-US" sz="1600" dirty="0"/>
          </a:p>
        </p:txBody>
      </p:sp>
      <p:sp>
        <p:nvSpPr>
          <p:cNvPr id="20" name="Step badge 1"/>
          <p:cNvSpPr/>
          <p:nvPr/>
        </p:nvSpPr>
        <p:spPr>
          <a:xfrm>
            <a:off x="4754880" y="2880360"/>
            <a:ext cx="411480" cy="411480"/>
          </a:xfrm>
          <a:prstGeom prst="ellipse">
            <a:avLst/>
          </a:prstGeom>
          <a:solidFill>
            <a:schemeClr val="accent1"/>
          </a:solidFill>
          <a:ln w="12700">
            <a:solidFill>
              <a:schemeClr val="accent1"/>
            </a:solidFill>
            <a:prstDash val="solid"/>
          </a:ln>
        </p:spPr>
      </p:sp>
      <p:sp>
        <p:nvSpPr>
          <p:cNvPr id="21" name="Step number 1"/>
          <p:cNvSpPr txBox="1"/>
          <p:nvPr/>
        </p:nvSpPr>
        <p:spPr>
          <a:xfrm>
            <a:off x="4754880" y="288036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22" name="Step text 1"/>
          <p:cNvSpPr txBox="1"/>
          <p:nvPr/>
        </p:nvSpPr>
        <p:spPr>
          <a:xfrm>
            <a:off x="5303520" y="2834640"/>
            <a:ext cx="3383280" cy="502920"/>
          </a:xfrm>
          <a:prstGeom prst="rect">
            <a:avLst/>
          </a:prstGeom>
          <a:noFill/>
          <a:ln/>
        </p:spPr>
        <p:txBody>
          <a:bodyPr wrap="square" lIns="0" tIns="0" rIns="0" bIns="0" rtlCol="0" anchor="ctr"/>
          <a:lstStyle/>
          <a:p>
            <a:pPr indent="0" marL="0">
              <a:buNone/>
            </a:pPr>
            <a:r>
              <a:rPr lang="en-US" sz="1400" dirty="0">
                <a:solidFill>
                  <a:schemeClr val="tx1"/>
                </a:solidFill>
              </a:rPr>
              <a:t>Check whether the pattern holds year by year</a:t>
            </a:r>
            <a:endParaRPr lang="en-US" sz="1400" dirty="0"/>
          </a:p>
        </p:txBody>
      </p:sp>
      <p:sp>
        <p:nvSpPr>
          <p:cNvPr id="23" name="Step badge 2"/>
          <p:cNvSpPr/>
          <p:nvPr/>
        </p:nvSpPr>
        <p:spPr>
          <a:xfrm>
            <a:off x="4754880" y="3447288"/>
            <a:ext cx="411480" cy="411480"/>
          </a:xfrm>
          <a:prstGeom prst="ellipse">
            <a:avLst/>
          </a:prstGeom>
          <a:solidFill>
            <a:schemeClr val="accent1"/>
          </a:solidFill>
          <a:ln w="12700">
            <a:solidFill>
              <a:schemeClr val="accent1"/>
            </a:solidFill>
            <a:prstDash val="solid"/>
          </a:ln>
        </p:spPr>
      </p:sp>
      <p:sp>
        <p:nvSpPr>
          <p:cNvPr id="24" name="Step number 2"/>
          <p:cNvSpPr txBox="1"/>
          <p:nvPr/>
        </p:nvSpPr>
        <p:spPr>
          <a:xfrm>
            <a:off x="4754880" y="3447288"/>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25" name="Step text 2"/>
          <p:cNvSpPr txBox="1"/>
          <p:nvPr/>
        </p:nvSpPr>
        <p:spPr>
          <a:xfrm>
            <a:off x="5303520" y="3401568"/>
            <a:ext cx="3383280" cy="502920"/>
          </a:xfrm>
          <a:prstGeom prst="rect">
            <a:avLst/>
          </a:prstGeom>
          <a:noFill/>
          <a:ln/>
        </p:spPr>
        <p:txBody>
          <a:bodyPr wrap="square" lIns="0" tIns="0" rIns="0" bIns="0" rtlCol="0" anchor="ctr"/>
          <a:lstStyle/>
          <a:p>
            <a:pPr indent="0" marL="0">
              <a:buNone/>
            </a:pPr>
            <a:r>
              <a:rPr lang="en-US" sz="1400" dirty="0">
                <a:solidFill>
                  <a:schemeClr val="tx1"/>
                </a:solidFill>
              </a:rPr>
              <a:t>Add runtime and director information</a:t>
            </a:r>
            <a:endParaRPr lang="en-US" sz="1400" dirty="0"/>
          </a:p>
        </p:txBody>
      </p:sp>
      <p:sp>
        <p:nvSpPr>
          <p:cNvPr id="26" name="Step badge 3"/>
          <p:cNvSpPr/>
          <p:nvPr/>
        </p:nvSpPr>
        <p:spPr>
          <a:xfrm>
            <a:off x="4754880" y="4014216"/>
            <a:ext cx="411480" cy="411480"/>
          </a:xfrm>
          <a:prstGeom prst="ellipse">
            <a:avLst/>
          </a:prstGeom>
          <a:solidFill>
            <a:schemeClr val="accent1"/>
          </a:solidFill>
          <a:ln w="12700">
            <a:solidFill>
              <a:schemeClr val="accent1"/>
            </a:solidFill>
            <a:prstDash val="solid"/>
          </a:ln>
        </p:spPr>
      </p:sp>
      <p:sp>
        <p:nvSpPr>
          <p:cNvPr id="27" name="Step number 3"/>
          <p:cNvSpPr txBox="1"/>
          <p:nvPr/>
        </p:nvSpPr>
        <p:spPr>
          <a:xfrm>
            <a:off x="4754880" y="4014216"/>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8" name="Step text 3"/>
          <p:cNvSpPr txBox="1"/>
          <p:nvPr/>
        </p:nvSpPr>
        <p:spPr>
          <a:xfrm>
            <a:off x="5303520" y="3968496"/>
            <a:ext cx="3383280" cy="502920"/>
          </a:xfrm>
          <a:prstGeom prst="rect">
            <a:avLst/>
          </a:prstGeom>
          <a:noFill/>
          <a:ln/>
        </p:spPr>
        <p:txBody>
          <a:bodyPr wrap="square" lIns="0" tIns="0" rIns="0" bIns="0" rtlCol="0" anchor="ctr"/>
          <a:lstStyle/>
          <a:p>
            <a:pPr indent="0" marL="0">
              <a:buNone/>
            </a:pPr>
            <a:r>
              <a:rPr lang="en-US" sz="1400" dirty="0">
                <a:solidFill>
                  <a:schemeClr val="tx1"/>
                </a:solidFill>
              </a:rPr>
              <a:t>Compare with budget and revenue, if available</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5 badge"/>
          <p:cNvSpPr/>
          <p:nvPr/>
        </p:nvSpPr>
        <p:spPr>
          <a:xfrm>
            <a:off x="457200" y="365760"/>
            <a:ext cx="548640" cy="548640"/>
          </a:xfrm>
          <a:prstGeom prst="ellipse">
            <a:avLst/>
          </a:prstGeom>
          <a:solidFill>
            <a:schemeClr val="accent1"/>
          </a:solidFill>
          <a:ln w="12700">
            <a:solidFill>
              <a:schemeClr val="accent1"/>
            </a:solidFill>
            <a:prstDash val="solid"/>
          </a:ln>
        </p:spPr>
      </p:sp>
      <p:pic>
        <p:nvPicPr>
          <p:cNvPr id="3" name="S5 icon" descr="icon">    </p:cNvPr>
          <p:cNvPicPr>
            <a:picLocks noChangeAspect="1"/>
          </p:cNvPicPr>
          <p:nvPr/>
        </p:nvPicPr>
        <p:blipFill>
          <a:blip r:embed="rId1"/>
          <a:stretch>
            <a:fillRect/>
          </a:stretch>
        </p:blipFill>
        <p:spPr>
          <a:xfrm>
            <a:off x="594360" y="502920"/>
            <a:ext cx="274320" cy="274320"/>
          </a:xfrm>
          <a:prstGeom prst="rect">
            <a:avLst/>
          </a:prstGeom>
        </p:spPr>
      </p:pic>
      <p:sp>
        <p:nvSpPr>
          <p:cNvPr id="4" name="Text 0"/>
          <p:cNvSpPr/>
          <p:nvPr>
            <p:ph idx="100" type="title" hasCustomPrompt="1"/>
          </p:nvPr>
        </p:nvSpPr>
        <p:spPr>
          <a:xfrm>
            <a:off x="1188720" y="320040"/>
            <a:ext cx="7498080" cy="640080"/>
          </a:xfrm>
          <a:prstGeom prst="rect">
            <a:avLst/>
          </a:prstGeom>
          <a:noFill/>
          <a:ln/>
        </p:spPr>
        <p:txBody>
          <a:bodyPr wrap="square" lIns="0" tIns="0" rIns="0" bIns="0" rtlCol="0" anchor="ctr"/>
          <a:lstStyle/>
          <a:p>
            <a:pPr indent="0" marL="0">
              <a:buNone/>
            </a:pPr>
            <a:r>
              <a:rPr lang="en-US" sz="3000" b="1" dirty="0">
                <a:solidFill>
                  <a:schemeClr val="tx1"/>
                </a:solidFill>
              </a:rPr>
              <a:t>Data cleaning tasks identified</a:t>
            </a:r>
            <a:endParaRPr lang="en-US" sz="3000" dirty="0"/>
          </a:p>
        </p:txBody>
      </p:sp>
      <p:graphicFrame>
        <p:nvGraphicFramePr>
          <p:cNvPr id="6" name="Cleaning table"/>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1920240"/>
                <a:gridCol w="4114800"/>
                <a:gridCol w="2194560"/>
              </a:tblGrid>
              <a:tr h="374904">
                <a:tc>
                  <a:txBody>
                    <a:bodyPr/>
                    <a:lstStyle/>
                    <a:p>
                      <a:pPr indent="0" marL="0">
                        <a:buNone/>
                      </a:pPr>
                      <a:r>
                        <a:rPr lang="en-US" sz="1300" b="1" dirty="0">
                          <a:solidFill>
                            <a:srgbClr val="FFFFFF"/>
                          </a:solidFill>
                        </a:rPr>
                        <a:t>Issue</a:t>
                      </a:r>
                      <a:endParaRPr lang="en-US" sz="1300" dirty="0"/>
                    </a:p>
                  </a:txBody>
                  <a:tcPr marL="91440" marR="91440" marT="0" marB="0" anchor="ctr">
                    <a:lnL w="9525" cap="flat" cmpd="sng" algn="ctr">
                      <a:solidFill>
                        <a:srgbClr val="E3E0EE"/>
                      </a:solidFill>
                      <a:prstDash val="solid"/>
                      <a:round/>
                      <a:headEnd type="none" w="med" len="med"/>
                      <a:tailEnd type="none" w="med" len="med"/>
                    </a:lnL>
                    <a:lnR w="9525" cap="flat" cmpd="sng" algn="ctr">
                      <a:solidFill>
                        <a:srgbClr val="E3E0EE"/>
                      </a:solidFill>
                      <a:prstDash val="solid"/>
                      <a:round/>
                      <a:headEnd type="none" w="med" len="med"/>
                      <a:tailEnd type="none" w="med" len="med"/>
                    </a:lnR>
                    <a:lnT w="9525" cap="flat" cmpd="sng" algn="ctr">
                      <a:solidFill>
                        <a:srgbClr val="E3E0EE"/>
                      </a:solidFill>
                      <a:prstDash val="solid"/>
                      <a:round/>
                      <a:headEnd type="none" w="med" len="med"/>
                      <a:tailEnd type="none" w="med" len="med"/>
                    </a:lnT>
                    <a:lnB w="9525" cap="flat" cmpd="sng" algn="ctr">
                      <a:solidFill>
                        <a:srgbClr val="E3E0EE"/>
                      </a:solidFill>
                      <a:prstDash val="solid"/>
                      <a:round/>
                      <a:headEnd type="none" w="med" len="med"/>
                      <a:tailEnd type="none" w="med" len="med"/>
                    </a:lnB>
                    <a:solidFill>
                      <a:srgbClr val="1E1B2E"/>
                    </a:solidFill>
                  </a:tcPr>
                </a:tc>
                <a:tc>
                  <a:txBody>
                    <a:bodyPr/>
                    <a:lstStyle/>
                    <a:p>
                      <a:pPr indent="0" marL="0">
                        <a:buNone/>
                      </a:pPr>
                      <a:r>
                        <a:rPr lang="en-US" sz="1300" b="1" dirty="0">
                          <a:solidFill>
                            <a:srgbClr val="FFFFFF"/>
                          </a:solidFill>
                        </a:rPr>
                        <a:t>What we found</a:t>
                      </a:r>
                      <a:endParaRPr lang="en-US" sz="1300" dirty="0"/>
                    </a:p>
                  </a:txBody>
                  <a:tcPr marL="91440" marR="91440" marT="0" marB="0" anchor="ctr">
                    <a:lnL w="9525" cap="flat" cmpd="sng" algn="ctr">
                      <a:solidFill>
                        <a:srgbClr val="E3E0EE"/>
                      </a:solidFill>
                      <a:prstDash val="solid"/>
                      <a:round/>
                      <a:headEnd type="none" w="med" len="med"/>
                      <a:tailEnd type="none" w="med" len="med"/>
                    </a:lnL>
                    <a:lnR w="9525" cap="flat" cmpd="sng" algn="ctr">
                      <a:solidFill>
                        <a:srgbClr val="E3E0EE"/>
                      </a:solidFill>
                      <a:prstDash val="solid"/>
                      <a:round/>
                      <a:headEnd type="none" w="med" len="med"/>
                      <a:tailEnd type="none" w="med" len="med"/>
                    </a:lnR>
                    <a:lnT w="9525" cap="flat" cmpd="sng" algn="ctr">
                      <a:solidFill>
                        <a:srgbClr val="E3E0EE"/>
                      </a:solidFill>
                      <a:prstDash val="solid"/>
                      <a:round/>
                      <a:headEnd type="none" w="med" len="med"/>
                      <a:tailEnd type="none" w="med" len="med"/>
                    </a:lnT>
                    <a:lnB w="9525" cap="flat" cmpd="sng" algn="ctr">
                      <a:solidFill>
                        <a:srgbClr val="E3E0EE"/>
                      </a:solidFill>
                      <a:prstDash val="solid"/>
                      <a:round/>
                      <a:headEnd type="none" w="med" len="med"/>
                      <a:tailEnd type="none" w="med" len="med"/>
                    </a:lnB>
                    <a:solidFill>
                      <a:srgbClr val="1E1B2E"/>
                    </a:solidFill>
                  </a:tcPr>
                </a:tc>
                <a:tc>
                  <a:txBody>
                    <a:bodyPr/>
                    <a:lstStyle/>
                    <a:p>
                      <a:pPr indent="0" marL="0">
                        <a:buNone/>
                      </a:pPr>
                      <a:r>
                        <a:rPr lang="en-US" sz="1300" b="1" dirty="0">
                          <a:solidFill>
                            <a:srgbClr val="FFFFFF"/>
                          </a:solidFill>
                        </a:rPr>
                        <a:t>Planned fix</a:t>
                      </a:r>
                      <a:endParaRPr lang="en-US" sz="1300" dirty="0"/>
                    </a:p>
                  </a:txBody>
                  <a:tcPr marL="91440" marR="91440" marT="0" marB="0" anchor="ctr">
                    <a:lnL w="9525" cap="flat" cmpd="sng" algn="ctr">
                      <a:solidFill>
                        <a:srgbClr val="E3E0EE"/>
                      </a:solidFill>
                      <a:prstDash val="solid"/>
                      <a:round/>
                      <a:headEnd type="none" w="med" len="med"/>
                      <a:tailEnd type="none" w="med" len="med"/>
                    </a:lnL>
                    <a:lnR w="9525" cap="flat" cmpd="sng" algn="ctr">
                      <a:solidFill>
                        <a:srgbClr val="E3E0EE"/>
                      </a:solidFill>
                      <a:prstDash val="solid"/>
                      <a:round/>
                      <a:headEnd type="none" w="med" len="med"/>
                      <a:tailEnd type="none" w="med" len="med"/>
                    </a:lnR>
                    <a:lnT w="9525" cap="flat" cmpd="sng" algn="ctr">
                      <a:solidFill>
                        <a:srgbClr val="E3E0EE"/>
                      </a:solidFill>
                      <a:prstDash val="solid"/>
                      <a:round/>
                      <a:headEnd type="none" w="med" len="med"/>
                      <a:tailEnd type="none" w="med" len="med"/>
                    </a:lnT>
                    <a:lnB w="9525" cap="flat" cmpd="sng" algn="ctr">
                      <a:solidFill>
                        <a:srgbClr val="E3E0EE"/>
                      </a:solidFill>
                      <a:prstDash val="solid"/>
                      <a:round/>
                      <a:headEnd type="none" w="med" len="med"/>
                      <a:tailEnd type="none" w="med" len="med"/>
                    </a:lnB>
                    <a:solidFill>
                      <a:srgbClr val="1E1B2E"/>
                    </a:solidFill>
                  </a:tcPr>
                </a:tc>
              </a:tr>
              <a:tr h="374904">
                <a:tc>
                  <a:txBody>
                    <a:bodyPr/>
                    <a:lstStyle/>
                    <a:p>
                      <a:pPr indent="0" marL="0">
                        <a:buNone/>
                      </a:pPr>
                      <a:r>
                        <a:rPr lang="en-US" sz="1300" b="1" dirty="0">
                          <a:solidFill>
                            <a:srgbClr val="1E1B2E"/>
                          </a:solidFill>
                        </a:rPr>
                        <a:t>Impossible dates</a:t>
                      </a:r>
                      <a:endParaRPr lang="en-US" sz="1300" dirty="0"/>
                    </a:p>
                  </a:txBody>
                  <a:tcPr marL="91440" marR="91440" marT="0" marB="0" anchor="ctr">
                    <a:lnL w="9525" cap="flat" cmpd="sng" algn="ctr">
                      <a:solidFill>
                        <a:srgbClr val="E3E0EE"/>
                      </a:solidFill>
                      <a:prstDash val="solid"/>
                      <a:round/>
                      <a:headEnd type="none" w="med" len="med"/>
                      <a:tailEnd type="none" w="med" len="med"/>
                    </a:lnL>
                    <a:lnR w="9525" cap="flat" cmpd="sng" algn="ctr">
                      <a:solidFill>
                        <a:srgbClr val="E3E0EE"/>
                      </a:solidFill>
                      <a:prstDash val="solid"/>
                      <a:round/>
                      <a:headEnd type="none" w="med" len="med"/>
                      <a:tailEnd type="none" w="med" len="med"/>
                    </a:lnR>
                    <a:lnT w="9525" cap="flat" cmpd="sng" algn="ctr">
                      <a:solidFill>
                        <a:srgbClr val="E3E0EE"/>
                      </a:solidFill>
                      <a:prstDash val="solid"/>
                      <a:round/>
                      <a:headEnd type="none" w="med" len="med"/>
                      <a:tailEnd type="none" w="med" len="med"/>
                    </a:lnT>
                    <a:lnB w="9525" cap="flat" cmpd="sng" algn="ctr">
                      <a:solidFill>
                        <a:srgbClr val="E3E0EE"/>
                      </a:solidFill>
                      <a:prstDash val="solid"/>
                      <a:round/>
                      <a:headEnd type="none" w="med" len="med"/>
                      <a:tailEnd type="none" w="med" len="med"/>
                    </a:lnB>
                    <a:solidFill>
                      <a:srgbClr val="FFFFFF"/>
                    </a:solidFill>
                  </a:tcPr>
                </a:tc>
                <a:tc>
                  <a:txBody>
                    <a:bodyPr/>
                    <a:lstStyle/>
                    <a:p>
                      <a:pPr indent="0" marL="0">
                        <a:buNone/>
                      </a:pPr>
                      <a:r>
                        <a:rPr lang="en-US" sz="1300" dirty="0">
                          <a:solidFill>
                            <a:srgbClr val="1E1B2E"/>
                          </a:solidFill>
                        </a:rPr>
                        <a:t>1,063 movies dated after 2019 (one says 2115)</a:t>
                      </a:r>
                      <a:endParaRPr lang="en-US" sz="1300" dirty="0"/>
                    </a:p>
                  </a:txBody>
                  <a:tcPr marL="91440" marR="91440" marT="0" marB="0" anchor="ctr">
                    <a:lnL w="9525" cap="flat" cmpd="sng" algn="ctr">
                      <a:solidFill>
                        <a:srgbClr val="E3E0EE"/>
                      </a:solidFill>
                      <a:prstDash val="solid"/>
                      <a:round/>
                      <a:headEnd type="none" w="med" len="med"/>
                      <a:tailEnd type="none" w="med" len="med"/>
                    </a:lnL>
                    <a:lnR w="9525" cap="flat" cmpd="sng" algn="ctr">
                      <a:solidFill>
                        <a:srgbClr val="E3E0EE"/>
                      </a:solidFill>
                      <a:prstDash val="solid"/>
                      <a:round/>
                      <a:headEnd type="none" w="med" len="med"/>
                      <a:tailEnd type="none" w="med" len="med"/>
                    </a:lnR>
                    <a:lnT w="9525" cap="flat" cmpd="sng" algn="ctr">
                      <a:solidFill>
                        <a:srgbClr val="E3E0EE"/>
                      </a:solidFill>
                      <a:prstDash val="solid"/>
                      <a:round/>
                      <a:headEnd type="none" w="med" len="med"/>
                      <a:tailEnd type="none" w="med" len="med"/>
                    </a:lnT>
                    <a:lnB w="9525" cap="flat" cmpd="sng" algn="ctr">
                      <a:solidFill>
                        <a:srgbClr val="E3E0EE"/>
                      </a:solidFill>
                      <a:prstDash val="solid"/>
                      <a:round/>
                      <a:headEnd type="none" w="med" len="med"/>
                      <a:tailEnd type="none" w="med" len="med"/>
                    </a:lnB>
                    <a:solidFill>
                      <a:srgbClr val="FFFFFF"/>
                    </a:solidFill>
                  </a:tcPr>
                </a:tc>
                <a:tc>
                  <a:txBody>
                    <a:bodyPr/>
                    <a:lstStyle/>
                    <a:p>
                      <a:pPr indent="0" marL="0">
                        <a:buNone/>
                      </a:pPr>
                      <a:r>
                        <a:rPr lang="en-US" sz="1300" dirty="0">
                          <a:solidFill>
                            <a:srgbClr val="1E1B2E"/>
                          </a:solidFill>
                        </a:rPr>
                        <a:t>Remove</a:t>
                      </a:r>
                      <a:endParaRPr lang="en-US" sz="1300" dirty="0"/>
                    </a:p>
                  </a:txBody>
                  <a:tcPr marL="91440" marR="91440" marT="0" marB="0" anchor="ctr">
                    <a:lnL w="9525" cap="flat" cmpd="sng" algn="ctr">
                      <a:solidFill>
                        <a:srgbClr val="E3E0EE"/>
                      </a:solidFill>
                      <a:prstDash val="solid"/>
                      <a:round/>
                      <a:headEnd type="none" w="med" len="med"/>
                      <a:tailEnd type="none" w="med" len="med"/>
                    </a:lnL>
                    <a:lnR w="9525" cap="flat" cmpd="sng" algn="ctr">
                      <a:solidFill>
                        <a:srgbClr val="E3E0EE"/>
                      </a:solidFill>
                      <a:prstDash val="solid"/>
                      <a:round/>
                      <a:headEnd type="none" w="med" len="med"/>
                      <a:tailEnd type="none" w="med" len="med"/>
                    </a:lnR>
                    <a:lnT w="9525" cap="flat" cmpd="sng" algn="ctr">
                      <a:solidFill>
                        <a:srgbClr val="E3E0EE"/>
                      </a:solidFill>
                      <a:prstDash val="solid"/>
                      <a:round/>
                      <a:headEnd type="none" w="med" len="med"/>
                      <a:tailEnd type="none" w="med" len="med"/>
                    </a:lnT>
                    <a:lnB w="9525" cap="flat" cmpd="sng" algn="ctr">
                      <a:solidFill>
                        <a:srgbClr val="E3E0EE"/>
                      </a:solidFill>
                      <a:prstDash val="solid"/>
                      <a:round/>
                      <a:headEnd type="none" w="med" len="med"/>
                      <a:tailEnd type="none" w="med" len="med"/>
                    </a:lnB>
                    <a:solidFill>
                      <a:srgbClr val="FFFFFF"/>
                    </a:solidFill>
                  </a:tcPr>
                </a:tc>
              </a:tr>
              <a:tr h="374904">
                <a:tc>
                  <a:txBody>
                    <a:bodyPr/>
                    <a:lstStyle/>
                    <a:p>
                      <a:pPr indent="0" marL="0">
                        <a:buNone/>
                      </a:pPr>
                      <a:r>
                        <a:rPr lang="en-US" sz="1300" b="1" dirty="0">
                          <a:solidFill>
                            <a:srgbClr val="1E1B2E"/>
                          </a:solidFill>
                        </a:rPr>
                        <a:t>Missing values</a:t>
                      </a:r>
                      <a:endParaRPr lang="en-US" sz="1300" dirty="0"/>
                    </a:p>
                  </a:txBody>
                  <a:tcPr marL="91440" marR="91440" marT="0" marB="0" anchor="ctr">
                    <a:lnL w="9525" cap="flat" cmpd="sng" algn="ctr">
                      <a:solidFill>
                        <a:srgbClr val="E3E0EE"/>
                      </a:solidFill>
                      <a:prstDash val="solid"/>
                      <a:round/>
                      <a:headEnd type="none" w="med" len="med"/>
                      <a:tailEnd type="none" w="med" len="med"/>
                    </a:lnL>
                    <a:lnR w="9525" cap="flat" cmpd="sng" algn="ctr">
                      <a:solidFill>
                        <a:srgbClr val="E3E0EE"/>
                      </a:solidFill>
                      <a:prstDash val="solid"/>
                      <a:round/>
                      <a:headEnd type="none" w="med" len="med"/>
                      <a:tailEnd type="none" w="med" len="med"/>
                    </a:lnR>
                    <a:lnT w="9525" cap="flat" cmpd="sng" algn="ctr">
                      <a:solidFill>
                        <a:srgbClr val="E3E0EE"/>
                      </a:solidFill>
                      <a:prstDash val="solid"/>
                      <a:round/>
                      <a:headEnd type="none" w="med" len="med"/>
                      <a:tailEnd type="none" w="med" len="med"/>
                    </a:lnT>
                    <a:lnB w="9525" cap="flat" cmpd="sng" algn="ctr">
                      <a:solidFill>
                        <a:srgbClr val="E3E0EE"/>
                      </a:solidFill>
                      <a:prstDash val="solid"/>
                      <a:round/>
                      <a:headEnd type="none" w="med" len="med"/>
                      <a:tailEnd type="none" w="med" len="med"/>
                    </a:lnB>
                    <a:solidFill>
                      <a:srgbClr val="F3F1F8"/>
                    </a:solidFill>
                  </a:tcPr>
                </a:tc>
                <a:tc>
                  <a:txBody>
                    <a:bodyPr/>
                    <a:lstStyle/>
                    <a:p>
                      <a:pPr indent="0" marL="0">
                        <a:buNone/>
                      </a:pPr>
                      <a:r>
                        <a:rPr lang="en-US" sz="1300" dirty="0">
                          <a:solidFill>
                            <a:srgbClr val="1E1B2E"/>
                          </a:solidFill>
                        </a:rPr>
                        <a:t>31,739 without a runtime; 5,408 without a genre</a:t>
                      </a:r>
                      <a:endParaRPr lang="en-US" sz="1300" dirty="0"/>
                    </a:p>
                  </a:txBody>
                  <a:tcPr marL="91440" marR="91440" marT="0" marB="0" anchor="ctr">
                    <a:lnL w="9525" cap="flat" cmpd="sng" algn="ctr">
                      <a:solidFill>
                        <a:srgbClr val="E3E0EE"/>
                      </a:solidFill>
                      <a:prstDash val="solid"/>
                      <a:round/>
                      <a:headEnd type="none" w="med" len="med"/>
                      <a:tailEnd type="none" w="med" len="med"/>
                    </a:lnL>
                    <a:lnR w="9525" cap="flat" cmpd="sng" algn="ctr">
                      <a:solidFill>
                        <a:srgbClr val="E3E0EE"/>
                      </a:solidFill>
                      <a:prstDash val="solid"/>
                      <a:round/>
                      <a:headEnd type="none" w="med" len="med"/>
                      <a:tailEnd type="none" w="med" len="med"/>
                    </a:lnR>
                    <a:lnT w="9525" cap="flat" cmpd="sng" algn="ctr">
                      <a:solidFill>
                        <a:srgbClr val="E3E0EE"/>
                      </a:solidFill>
                      <a:prstDash val="solid"/>
                      <a:round/>
                      <a:headEnd type="none" w="med" len="med"/>
                      <a:tailEnd type="none" w="med" len="med"/>
                    </a:lnT>
                    <a:lnB w="9525" cap="flat" cmpd="sng" algn="ctr">
                      <a:solidFill>
                        <a:srgbClr val="E3E0EE"/>
                      </a:solidFill>
                      <a:prstDash val="solid"/>
                      <a:round/>
                      <a:headEnd type="none" w="med" len="med"/>
                      <a:tailEnd type="none" w="med" len="med"/>
                    </a:lnB>
                    <a:solidFill>
                      <a:srgbClr val="F3F1F8"/>
                    </a:solidFill>
                  </a:tcPr>
                </a:tc>
                <a:tc>
                  <a:txBody>
                    <a:bodyPr/>
                    <a:lstStyle/>
                    <a:p>
                      <a:pPr indent="0" marL="0">
                        <a:buNone/>
                      </a:pPr>
                      <a:r>
                        <a:rPr lang="en-US" sz="1300" dirty="0">
                          <a:solidFill>
                            <a:srgbClr val="1E1B2E"/>
                          </a:solidFill>
                        </a:rPr>
                        <a:t>Exclude, not fill in</a:t>
                      </a:r>
                      <a:endParaRPr lang="en-US" sz="1300" dirty="0"/>
                    </a:p>
                  </a:txBody>
                  <a:tcPr marL="91440" marR="91440" marT="0" marB="0" anchor="ctr">
                    <a:lnL w="9525" cap="flat" cmpd="sng" algn="ctr">
                      <a:solidFill>
                        <a:srgbClr val="E3E0EE"/>
                      </a:solidFill>
                      <a:prstDash val="solid"/>
                      <a:round/>
                      <a:headEnd type="none" w="med" len="med"/>
                      <a:tailEnd type="none" w="med" len="med"/>
                    </a:lnL>
                    <a:lnR w="9525" cap="flat" cmpd="sng" algn="ctr">
                      <a:solidFill>
                        <a:srgbClr val="E3E0EE"/>
                      </a:solidFill>
                      <a:prstDash val="solid"/>
                      <a:round/>
                      <a:headEnd type="none" w="med" len="med"/>
                      <a:tailEnd type="none" w="med" len="med"/>
                    </a:lnR>
                    <a:lnT w="9525" cap="flat" cmpd="sng" algn="ctr">
                      <a:solidFill>
                        <a:srgbClr val="E3E0EE"/>
                      </a:solidFill>
                      <a:prstDash val="solid"/>
                      <a:round/>
                      <a:headEnd type="none" w="med" len="med"/>
                      <a:tailEnd type="none" w="med" len="med"/>
                    </a:lnT>
                    <a:lnB w="9525" cap="flat" cmpd="sng" algn="ctr">
                      <a:solidFill>
                        <a:srgbClr val="E3E0EE"/>
                      </a:solidFill>
                      <a:prstDash val="solid"/>
                      <a:round/>
                      <a:headEnd type="none" w="med" len="med"/>
                      <a:tailEnd type="none" w="med" len="med"/>
                    </a:lnB>
                    <a:solidFill>
                      <a:srgbClr val="F3F1F8"/>
                    </a:solidFill>
                  </a:tcPr>
                </a:tc>
              </a:tr>
              <a:tr h="374904">
                <a:tc>
                  <a:txBody>
                    <a:bodyPr/>
                    <a:lstStyle/>
                    <a:p>
                      <a:pPr indent="0" marL="0">
                        <a:buNone/>
                      </a:pPr>
                      <a:r>
                        <a:rPr lang="en-US" sz="1300" b="1" dirty="0">
                          <a:solidFill>
                            <a:srgbClr val="1E1B2E"/>
                          </a:solidFill>
                        </a:rPr>
                        <a:t>Unrated movies</a:t>
                      </a:r>
                      <a:endParaRPr lang="en-US" sz="1300" dirty="0"/>
                    </a:p>
                  </a:txBody>
                  <a:tcPr marL="91440" marR="91440" marT="0" marB="0" anchor="ctr">
                    <a:lnL w="9525" cap="flat" cmpd="sng" algn="ctr">
                      <a:solidFill>
                        <a:srgbClr val="E3E0EE"/>
                      </a:solidFill>
                      <a:prstDash val="solid"/>
                      <a:round/>
                      <a:headEnd type="none" w="med" len="med"/>
                      <a:tailEnd type="none" w="med" len="med"/>
                    </a:lnL>
                    <a:lnR w="9525" cap="flat" cmpd="sng" algn="ctr">
                      <a:solidFill>
                        <a:srgbClr val="E3E0EE"/>
                      </a:solidFill>
                      <a:prstDash val="solid"/>
                      <a:round/>
                      <a:headEnd type="none" w="med" len="med"/>
                      <a:tailEnd type="none" w="med" len="med"/>
                    </a:lnR>
                    <a:lnT w="9525" cap="flat" cmpd="sng" algn="ctr">
                      <a:solidFill>
                        <a:srgbClr val="E3E0EE"/>
                      </a:solidFill>
                      <a:prstDash val="solid"/>
                      <a:round/>
                      <a:headEnd type="none" w="med" len="med"/>
                      <a:tailEnd type="none" w="med" len="med"/>
                    </a:lnT>
                    <a:lnB w="9525" cap="flat" cmpd="sng" algn="ctr">
                      <a:solidFill>
                        <a:srgbClr val="E3E0EE"/>
                      </a:solidFill>
                      <a:prstDash val="solid"/>
                      <a:round/>
                      <a:headEnd type="none" w="med" len="med"/>
                      <a:tailEnd type="none" w="med" len="med"/>
                    </a:lnB>
                    <a:solidFill>
                      <a:srgbClr val="FFFFFF"/>
                    </a:solidFill>
                  </a:tcPr>
                </a:tc>
                <a:tc>
                  <a:txBody>
                    <a:bodyPr/>
                    <a:lstStyle/>
                    <a:p>
                      <a:pPr indent="0" marL="0">
                        <a:buNone/>
                      </a:pPr>
                      <a:r>
                        <a:rPr lang="en-US" sz="1300" dirty="0">
                          <a:solidFill>
                            <a:srgbClr val="1E1B2E"/>
                          </a:solidFill>
                        </a:rPr>
                        <a:t>About half have no rating</a:t>
                      </a:r>
                      <a:endParaRPr lang="en-US" sz="1300" dirty="0"/>
                    </a:p>
                  </a:txBody>
                  <a:tcPr marL="91440" marR="91440" marT="0" marB="0" anchor="ctr">
                    <a:lnL w="9525" cap="flat" cmpd="sng" algn="ctr">
                      <a:solidFill>
                        <a:srgbClr val="E3E0EE"/>
                      </a:solidFill>
                      <a:prstDash val="solid"/>
                      <a:round/>
                      <a:headEnd type="none" w="med" len="med"/>
                      <a:tailEnd type="none" w="med" len="med"/>
                    </a:lnL>
                    <a:lnR w="9525" cap="flat" cmpd="sng" algn="ctr">
                      <a:solidFill>
                        <a:srgbClr val="E3E0EE"/>
                      </a:solidFill>
                      <a:prstDash val="solid"/>
                      <a:round/>
                      <a:headEnd type="none" w="med" len="med"/>
                      <a:tailEnd type="none" w="med" len="med"/>
                    </a:lnR>
                    <a:lnT w="9525" cap="flat" cmpd="sng" algn="ctr">
                      <a:solidFill>
                        <a:srgbClr val="E3E0EE"/>
                      </a:solidFill>
                      <a:prstDash val="solid"/>
                      <a:round/>
                      <a:headEnd type="none" w="med" len="med"/>
                      <a:tailEnd type="none" w="med" len="med"/>
                    </a:lnT>
                    <a:lnB w="9525" cap="flat" cmpd="sng" algn="ctr">
                      <a:solidFill>
                        <a:srgbClr val="E3E0EE"/>
                      </a:solidFill>
                      <a:prstDash val="solid"/>
                      <a:round/>
                      <a:headEnd type="none" w="med" len="med"/>
                      <a:tailEnd type="none" w="med" len="med"/>
                    </a:lnB>
                    <a:solidFill>
                      <a:srgbClr val="FFFFFF"/>
                    </a:solidFill>
                  </a:tcPr>
                </a:tc>
                <a:tc>
                  <a:txBody>
                    <a:bodyPr/>
                    <a:lstStyle/>
                    <a:p>
                      <a:pPr indent="0" marL="0">
                        <a:buNone/>
                      </a:pPr>
                      <a:r>
                        <a:rPr lang="en-US" sz="1300" dirty="0">
                          <a:solidFill>
                            <a:srgbClr val="1E1B2E"/>
                          </a:solidFill>
                        </a:rPr>
                        <a:t>Analyse rated movies only</a:t>
                      </a:r>
                      <a:endParaRPr lang="en-US" sz="1300" dirty="0"/>
                    </a:p>
                  </a:txBody>
                  <a:tcPr marL="91440" marR="91440" marT="0" marB="0" anchor="ctr">
                    <a:lnL w="9525" cap="flat" cmpd="sng" algn="ctr">
                      <a:solidFill>
                        <a:srgbClr val="E3E0EE"/>
                      </a:solidFill>
                      <a:prstDash val="solid"/>
                      <a:round/>
                      <a:headEnd type="none" w="med" len="med"/>
                      <a:tailEnd type="none" w="med" len="med"/>
                    </a:lnL>
                    <a:lnR w="9525" cap="flat" cmpd="sng" algn="ctr">
                      <a:solidFill>
                        <a:srgbClr val="E3E0EE"/>
                      </a:solidFill>
                      <a:prstDash val="solid"/>
                      <a:round/>
                      <a:headEnd type="none" w="med" len="med"/>
                      <a:tailEnd type="none" w="med" len="med"/>
                    </a:lnR>
                    <a:lnT w="9525" cap="flat" cmpd="sng" algn="ctr">
                      <a:solidFill>
                        <a:srgbClr val="E3E0EE"/>
                      </a:solidFill>
                      <a:prstDash val="solid"/>
                      <a:round/>
                      <a:headEnd type="none" w="med" len="med"/>
                      <a:tailEnd type="none" w="med" len="med"/>
                    </a:lnT>
                    <a:lnB w="9525" cap="flat" cmpd="sng" algn="ctr">
                      <a:solidFill>
                        <a:srgbClr val="E3E0EE"/>
                      </a:solidFill>
                      <a:prstDash val="solid"/>
                      <a:round/>
                      <a:headEnd type="none" w="med" len="med"/>
                      <a:tailEnd type="none" w="med" len="med"/>
                    </a:lnB>
                    <a:solidFill>
                      <a:srgbClr val="FFFFFF"/>
                    </a:solidFill>
                  </a:tcPr>
                </a:tc>
              </a:tr>
              <a:tr h="374904">
                <a:tc>
                  <a:txBody>
                    <a:bodyPr/>
                    <a:lstStyle/>
                    <a:p>
                      <a:pPr indent="0" marL="0">
                        <a:buNone/>
                      </a:pPr>
                      <a:r>
                        <a:rPr lang="en-US" sz="1300" b="1" dirty="0">
                          <a:solidFill>
                            <a:srgbClr val="1E1B2E"/>
                          </a:solidFill>
                        </a:rPr>
                        <a:t>Duplicate records</a:t>
                      </a:r>
                      <a:endParaRPr lang="en-US" sz="1300" dirty="0"/>
                    </a:p>
                  </a:txBody>
                  <a:tcPr marL="91440" marR="91440" marT="0" marB="0" anchor="ctr">
                    <a:lnL w="9525" cap="flat" cmpd="sng" algn="ctr">
                      <a:solidFill>
                        <a:srgbClr val="E3E0EE"/>
                      </a:solidFill>
                      <a:prstDash val="solid"/>
                      <a:round/>
                      <a:headEnd type="none" w="med" len="med"/>
                      <a:tailEnd type="none" w="med" len="med"/>
                    </a:lnL>
                    <a:lnR w="9525" cap="flat" cmpd="sng" algn="ctr">
                      <a:solidFill>
                        <a:srgbClr val="E3E0EE"/>
                      </a:solidFill>
                      <a:prstDash val="solid"/>
                      <a:round/>
                      <a:headEnd type="none" w="med" len="med"/>
                      <a:tailEnd type="none" w="med" len="med"/>
                    </a:lnR>
                    <a:lnT w="9525" cap="flat" cmpd="sng" algn="ctr">
                      <a:solidFill>
                        <a:srgbClr val="E3E0EE"/>
                      </a:solidFill>
                      <a:prstDash val="solid"/>
                      <a:round/>
                      <a:headEnd type="none" w="med" len="med"/>
                      <a:tailEnd type="none" w="med" len="med"/>
                    </a:lnT>
                    <a:lnB w="9525" cap="flat" cmpd="sng" algn="ctr">
                      <a:solidFill>
                        <a:srgbClr val="E3E0EE"/>
                      </a:solidFill>
                      <a:prstDash val="solid"/>
                      <a:round/>
                      <a:headEnd type="none" w="med" len="med"/>
                      <a:tailEnd type="none" w="med" len="med"/>
                    </a:lnB>
                    <a:solidFill>
                      <a:srgbClr val="F3F1F8"/>
                    </a:solidFill>
                  </a:tcPr>
                </a:tc>
                <a:tc>
                  <a:txBody>
                    <a:bodyPr/>
                    <a:lstStyle/>
                    <a:p>
                      <a:pPr indent="0" marL="0">
                        <a:buNone/>
                      </a:pPr>
                      <a:r>
                        <a:rPr lang="en-US" sz="1300" dirty="0">
                          <a:solidFill>
                            <a:srgbClr val="1E1B2E"/>
                          </a:solidFill>
                        </a:rPr>
                        <a:t>127,639 repeated rows in the directors table (44%)</a:t>
                      </a:r>
                      <a:endParaRPr lang="en-US" sz="1300" dirty="0"/>
                    </a:p>
                  </a:txBody>
                  <a:tcPr marL="91440" marR="91440" marT="0" marB="0" anchor="ctr">
                    <a:lnL w="9525" cap="flat" cmpd="sng" algn="ctr">
                      <a:solidFill>
                        <a:srgbClr val="E3E0EE"/>
                      </a:solidFill>
                      <a:prstDash val="solid"/>
                      <a:round/>
                      <a:headEnd type="none" w="med" len="med"/>
                      <a:tailEnd type="none" w="med" len="med"/>
                    </a:lnL>
                    <a:lnR w="9525" cap="flat" cmpd="sng" algn="ctr">
                      <a:solidFill>
                        <a:srgbClr val="E3E0EE"/>
                      </a:solidFill>
                      <a:prstDash val="solid"/>
                      <a:round/>
                      <a:headEnd type="none" w="med" len="med"/>
                      <a:tailEnd type="none" w="med" len="med"/>
                    </a:lnR>
                    <a:lnT w="9525" cap="flat" cmpd="sng" algn="ctr">
                      <a:solidFill>
                        <a:srgbClr val="E3E0EE"/>
                      </a:solidFill>
                      <a:prstDash val="solid"/>
                      <a:round/>
                      <a:headEnd type="none" w="med" len="med"/>
                      <a:tailEnd type="none" w="med" len="med"/>
                    </a:lnT>
                    <a:lnB w="9525" cap="flat" cmpd="sng" algn="ctr">
                      <a:solidFill>
                        <a:srgbClr val="E3E0EE"/>
                      </a:solidFill>
                      <a:prstDash val="solid"/>
                      <a:round/>
                      <a:headEnd type="none" w="med" len="med"/>
                      <a:tailEnd type="none" w="med" len="med"/>
                    </a:lnB>
                    <a:solidFill>
                      <a:srgbClr val="F3F1F8"/>
                    </a:solidFill>
                  </a:tcPr>
                </a:tc>
                <a:tc>
                  <a:txBody>
                    <a:bodyPr/>
                    <a:lstStyle/>
                    <a:p>
                      <a:pPr indent="0" marL="0">
                        <a:buNone/>
                      </a:pPr>
                      <a:r>
                        <a:rPr lang="en-US" sz="1300" dirty="0">
                          <a:solidFill>
                            <a:srgbClr val="1E1B2E"/>
                          </a:solidFill>
                        </a:rPr>
                        <a:t>Remove duplicates</a:t>
                      </a:r>
                      <a:endParaRPr lang="en-US" sz="1300" dirty="0"/>
                    </a:p>
                  </a:txBody>
                  <a:tcPr marL="91440" marR="91440" marT="0" marB="0" anchor="ctr">
                    <a:lnL w="9525" cap="flat" cmpd="sng" algn="ctr">
                      <a:solidFill>
                        <a:srgbClr val="E3E0EE"/>
                      </a:solidFill>
                      <a:prstDash val="solid"/>
                      <a:round/>
                      <a:headEnd type="none" w="med" len="med"/>
                      <a:tailEnd type="none" w="med" len="med"/>
                    </a:lnL>
                    <a:lnR w="9525" cap="flat" cmpd="sng" algn="ctr">
                      <a:solidFill>
                        <a:srgbClr val="E3E0EE"/>
                      </a:solidFill>
                      <a:prstDash val="solid"/>
                      <a:round/>
                      <a:headEnd type="none" w="med" len="med"/>
                      <a:tailEnd type="none" w="med" len="med"/>
                    </a:lnR>
                    <a:lnT w="9525" cap="flat" cmpd="sng" algn="ctr">
                      <a:solidFill>
                        <a:srgbClr val="E3E0EE"/>
                      </a:solidFill>
                      <a:prstDash val="solid"/>
                      <a:round/>
                      <a:headEnd type="none" w="med" len="med"/>
                      <a:tailEnd type="none" w="med" len="med"/>
                    </a:lnT>
                    <a:lnB w="9525" cap="flat" cmpd="sng" algn="ctr">
                      <a:solidFill>
                        <a:srgbClr val="E3E0EE"/>
                      </a:solidFill>
                      <a:prstDash val="solid"/>
                      <a:round/>
                      <a:headEnd type="none" w="med" len="med"/>
                      <a:tailEnd type="none" w="med" len="med"/>
                    </a:lnB>
                    <a:solidFill>
                      <a:srgbClr val="F3F1F8"/>
                    </a:solidFill>
                  </a:tcPr>
                </a:tc>
              </a:tr>
              <a:tr h="374904">
                <a:tc>
                  <a:txBody>
                    <a:bodyPr/>
                    <a:lstStyle/>
                    <a:p>
                      <a:pPr indent="0" marL="0">
                        <a:buNone/>
                      </a:pPr>
                      <a:r>
                        <a:rPr lang="en-US" sz="1300" b="1" dirty="0">
                          <a:solidFill>
                            <a:srgbClr val="1E1B2E"/>
                          </a:solidFill>
                        </a:rPr>
                        <a:t>Combined genres</a:t>
                      </a:r>
                      <a:endParaRPr lang="en-US" sz="1300" dirty="0"/>
                    </a:p>
                  </a:txBody>
                  <a:tcPr marL="91440" marR="91440" marT="0" marB="0" anchor="ctr">
                    <a:lnL w="9525" cap="flat" cmpd="sng" algn="ctr">
                      <a:solidFill>
                        <a:srgbClr val="E3E0EE"/>
                      </a:solidFill>
                      <a:prstDash val="solid"/>
                      <a:round/>
                      <a:headEnd type="none" w="med" len="med"/>
                      <a:tailEnd type="none" w="med" len="med"/>
                    </a:lnL>
                    <a:lnR w="9525" cap="flat" cmpd="sng" algn="ctr">
                      <a:solidFill>
                        <a:srgbClr val="E3E0EE"/>
                      </a:solidFill>
                      <a:prstDash val="solid"/>
                      <a:round/>
                      <a:headEnd type="none" w="med" len="med"/>
                      <a:tailEnd type="none" w="med" len="med"/>
                    </a:lnR>
                    <a:lnT w="9525" cap="flat" cmpd="sng" algn="ctr">
                      <a:solidFill>
                        <a:srgbClr val="E3E0EE"/>
                      </a:solidFill>
                      <a:prstDash val="solid"/>
                      <a:round/>
                      <a:headEnd type="none" w="med" len="med"/>
                      <a:tailEnd type="none" w="med" len="med"/>
                    </a:lnT>
                    <a:lnB w="9525" cap="flat" cmpd="sng" algn="ctr">
                      <a:solidFill>
                        <a:srgbClr val="E3E0EE"/>
                      </a:solidFill>
                      <a:prstDash val="solid"/>
                      <a:round/>
                      <a:headEnd type="none" w="med" len="med"/>
                      <a:tailEnd type="none" w="med" len="med"/>
                    </a:lnB>
                    <a:solidFill>
                      <a:srgbClr val="FFFFFF"/>
                    </a:solidFill>
                  </a:tcPr>
                </a:tc>
                <a:tc>
                  <a:txBody>
                    <a:bodyPr/>
                    <a:lstStyle/>
                    <a:p>
                      <a:pPr indent="0" marL="0">
                        <a:buNone/>
                      </a:pPr>
                      <a:r>
                        <a:rPr lang="en-US" sz="1300" dirty="0">
                          <a:solidFill>
                            <a:srgbClr val="1E1B2E"/>
                          </a:solidFill>
                        </a:rPr>
                        <a:t>Several genres packed into one field</a:t>
                      </a:r>
                      <a:endParaRPr lang="en-US" sz="1300" dirty="0"/>
                    </a:p>
                  </a:txBody>
                  <a:tcPr marL="91440" marR="91440" marT="0" marB="0" anchor="ctr">
                    <a:lnL w="9525" cap="flat" cmpd="sng" algn="ctr">
                      <a:solidFill>
                        <a:srgbClr val="E3E0EE"/>
                      </a:solidFill>
                      <a:prstDash val="solid"/>
                      <a:round/>
                      <a:headEnd type="none" w="med" len="med"/>
                      <a:tailEnd type="none" w="med" len="med"/>
                    </a:lnL>
                    <a:lnR w="9525" cap="flat" cmpd="sng" algn="ctr">
                      <a:solidFill>
                        <a:srgbClr val="E3E0EE"/>
                      </a:solidFill>
                      <a:prstDash val="solid"/>
                      <a:round/>
                      <a:headEnd type="none" w="med" len="med"/>
                      <a:tailEnd type="none" w="med" len="med"/>
                    </a:lnR>
                    <a:lnT w="9525" cap="flat" cmpd="sng" algn="ctr">
                      <a:solidFill>
                        <a:srgbClr val="E3E0EE"/>
                      </a:solidFill>
                      <a:prstDash val="solid"/>
                      <a:round/>
                      <a:headEnd type="none" w="med" len="med"/>
                      <a:tailEnd type="none" w="med" len="med"/>
                    </a:lnT>
                    <a:lnB w="9525" cap="flat" cmpd="sng" algn="ctr">
                      <a:solidFill>
                        <a:srgbClr val="E3E0EE"/>
                      </a:solidFill>
                      <a:prstDash val="solid"/>
                      <a:round/>
                      <a:headEnd type="none" w="med" len="med"/>
                      <a:tailEnd type="none" w="med" len="med"/>
                    </a:lnB>
                    <a:solidFill>
                      <a:srgbClr val="FFFFFF"/>
                    </a:solidFill>
                  </a:tcPr>
                </a:tc>
                <a:tc>
                  <a:txBody>
                    <a:bodyPr/>
                    <a:lstStyle/>
                    <a:p>
                      <a:pPr indent="0" marL="0">
                        <a:buNone/>
                      </a:pPr>
                      <a:r>
                        <a:rPr lang="en-US" sz="1300" dirty="0">
                          <a:solidFill>
                            <a:srgbClr val="1E1B2E"/>
                          </a:solidFill>
                        </a:rPr>
                        <a:t>Split into separate genres</a:t>
                      </a:r>
                      <a:endParaRPr lang="en-US" sz="1300" dirty="0"/>
                    </a:p>
                  </a:txBody>
                  <a:tcPr marL="91440" marR="91440" marT="0" marB="0" anchor="ctr">
                    <a:lnL w="9525" cap="flat" cmpd="sng" algn="ctr">
                      <a:solidFill>
                        <a:srgbClr val="E3E0EE"/>
                      </a:solidFill>
                      <a:prstDash val="solid"/>
                      <a:round/>
                      <a:headEnd type="none" w="med" len="med"/>
                      <a:tailEnd type="none" w="med" len="med"/>
                    </a:lnL>
                    <a:lnR w="9525" cap="flat" cmpd="sng" algn="ctr">
                      <a:solidFill>
                        <a:srgbClr val="E3E0EE"/>
                      </a:solidFill>
                      <a:prstDash val="solid"/>
                      <a:round/>
                      <a:headEnd type="none" w="med" len="med"/>
                      <a:tailEnd type="none" w="med" len="med"/>
                    </a:lnR>
                    <a:lnT w="9525" cap="flat" cmpd="sng" algn="ctr">
                      <a:solidFill>
                        <a:srgbClr val="E3E0EE"/>
                      </a:solidFill>
                      <a:prstDash val="solid"/>
                      <a:round/>
                      <a:headEnd type="none" w="med" len="med"/>
                      <a:tailEnd type="none" w="med" len="med"/>
                    </a:lnT>
                    <a:lnB w="9525" cap="flat" cmpd="sng" algn="ctr">
                      <a:solidFill>
                        <a:srgbClr val="E3E0EE"/>
                      </a:solidFill>
                      <a:prstDash val="solid"/>
                      <a:round/>
                      <a:headEnd type="none" w="med" len="med"/>
                      <a:tailEnd type="none" w="med" len="med"/>
                    </a:lnB>
                    <a:solidFill>
                      <a:srgbClr val="FFFFFF"/>
                    </a:solidFill>
                  </a:tcPr>
                </a:tc>
              </a:tr>
              <a:tr h="374904">
                <a:tc>
                  <a:txBody>
                    <a:bodyPr/>
                    <a:lstStyle/>
                    <a:p>
                      <a:pPr indent="0" marL="0">
                        <a:buNone/>
                      </a:pPr>
                      <a:r>
                        <a:rPr lang="en-US" sz="1300" b="1" dirty="0">
                          <a:solidFill>
                            <a:srgbClr val="1E1B2E"/>
                          </a:solidFill>
                        </a:rPr>
                        <a:t>Unreliable ratings</a:t>
                      </a:r>
                      <a:endParaRPr lang="en-US" sz="1300" dirty="0"/>
                    </a:p>
                  </a:txBody>
                  <a:tcPr marL="91440" marR="91440" marT="0" marB="0" anchor="ctr">
                    <a:lnL w="9525" cap="flat" cmpd="sng" algn="ctr">
                      <a:solidFill>
                        <a:srgbClr val="E3E0EE"/>
                      </a:solidFill>
                      <a:prstDash val="solid"/>
                      <a:round/>
                      <a:headEnd type="none" w="med" len="med"/>
                      <a:tailEnd type="none" w="med" len="med"/>
                    </a:lnL>
                    <a:lnR w="9525" cap="flat" cmpd="sng" algn="ctr">
                      <a:solidFill>
                        <a:srgbClr val="E3E0EE"/>
                      </a:solidFill>
                      <a:prstDash val="solid"/>
                      <a:round/>
                      <a:headEnd type="none" w="med" len="med"/>
                      <a:tailEnd type="none" w="med" len="med"/>
                    </a:lnR>
                    <a:lnT w="9525" cap="flat" cmpd="sng" algn="ctr">
                      <a:solidFill>
                        <a:srgbClr val="E3E0EE"/>
                      </a:solidFill>
                      <a:prstDash val="solid"/>
                      <a:round/>
                      <a:headEnd type="none" w="med" len="med"/>
                      <a:tailEnd type="none" w="med" len="med"/>
                    </a:lnT>
                    <a:lnB w="9525" cap="flat" cmpd="sng" algn="ctr">
                      <a:solidFill>
                        <a:srgbClr val="E3E0EE"/>
                      </a:solidFill>
                      <a:prstDash val="solid"/>
                      <a:round/>
                      <a:headEnd type="none" w="med" len="med"/>
                      <a:tailEnd type="none" w="med" len="med"/>
                    </a:lnB>
                    <a:solidFill>
                      <a:srgbClr val="F3F1F8"/>
                    </a:solidFill>
                  </a:tcPr>
                </a:tc>
                <a:tc>
                  <a:txBody>
                    <a:bodyPr/>
                    <a:lstStyle/>
                    <a:p>
                      <a:pPr indent="0" marL="0">
                        <a:buNone/>
                      </a:pPr>
                      <a:r>
                        <a:rPr lang="en-US" sz="1300" dirty="0">
                          <a:solidFill>
                            <a:srgbClr val="1E1B2E"/>
                          </a:solidFill>
                        </a:rPr>
                        <a:t>61% of ratings rest on fewer than 100 votes</a:t>
                      </a:r>
                      <a:endParaRPr lang="en-US" sz="1300" dirty="0"/>
                    </a:p>
                  </a:txBody>
                  <a:tcPr marL="91440" marR="91440" marT="0" marB="0" anchor="ctr">
                    <a:lnL w="9525" cap="flat" cmpd="sng" algn="ctr">
                      <a:solidFill>
                        <a:srgbClr val="E3E0EE"/>
                      </a:solidFill>
                      <a:prstDash val="solid"/>
                      <a:round/>
                      <a:headEnd type="none" w="med" len="med"/>
                      <a:tailEnd type="none" w="med" len="med"/>
                    </a:lnL>
                    <a:lnR w="9525" cap="flat" cmpd="sng" algn="ctr">
                      <a:solidFill>
                        <a:srgbClr val="E3E0EE"/>
                      </a:solidFill>
                      <a:prstDash val="solid"/>
                      <a:round/>
                      <a:headEnd type="none" w="med" len="med"/>
                      <a:tailEnd type="none" w="med" len="med"/>
                    </a:lnR>
                    <a:lnT w="9525" cap="flat" cmpd="sng" algn="ctr">
                      <a:solidFill>
                        <a:srgbClr val="E3E0EE"/>
                      </a:solidFill>
                      <a:prstDash val="solid"/>
                      <a:round/>
                      <a:headEnd type="none" w="med" len="med"/>
                      <a:tailEnd type="none" w="med" len="med"/>
                    </a:lnT>
                    <a:lnB w="9525" cap="flat" cmpd="sng" algn="ctr">
                      <a:solidFill>
                        <a:srgbClr val="E3E0EE"/>
                      </a:solidFill>
                      <a:prstDash val="solid"/>
                      <a:round/>
                      <a:headEnd type="none" w="med" len="med"/>
                      <a:tailEnd type="none" w="med" len="med"/>
                    </a:lnB>
                    <a:solidFill>
                      <a:srgbClr val="F3F1F8"/>
                    </a:solidFill>
                  </a:tcPr>
                </a:tc>
                <a:tc>
                  <a:txBody>
                    <a:bodyPr/>
                    <a:lstStyle/>
                    <a:p>
                      <a:pPr indent="0" marL="0">
                        <a:buNone/>
                      </a:pPr>
                      <a:r>
                        <a:rPr lang="en-US" sz="1300" dirty="0">
                          <a:solidFill>
                            <a:srgbClr val="1E1B2E"/>
                          </a:solidFill>
                        </a:rPr>
                        <a:t>Require 1,000+ votes</a:t>
                      </a:r>
                      <a:endParaRPr lang="en-US" sz="1300" dirty="0"/>
                    </a:p>
                  </a:txBody>
                  <a:tcPr marL="91440" marR="91440" marT="0" marB="0" anchor="ctr">
                    <a:lnL w="9525" cap="flat" cmpd="sng" algn="ctr">
                      <a:solidFill>
                        <a:srgbClr val="E3E0EE"/>
                      </a:solidFill>
                      <a:prstDash val="solid"/>
                      <a:round/>
                      <a:headEnd type="none" w="med" len="med"/>
                      <a:tailEnd type="none" w="med" len="med"/>
                    </a:lnL>
                    <a:lnR w="9525" cap="flat" cmpd="sng" algn="ctr">
                      <a:solidFill>
                        <a:srgbClr val="E3E0EE"/>
                      </a:solidFill>
                      <a:prstDash val="solid"/>
                      <a:round/>
                      <a:headEnd type="none" w="med" len="med"/>
                      <a:tailEnd type="none" w="med" len="med"/>
                    </a:lnR>
                    <a:lnT w="9525" cap="flat" cmpd="sng" algn="ctr">
                      <a:solidFill>
                        <a:srgbClr val="E3E0EE"/>
                      </a:solidFill>
                      <a:prstDash val="solid"/>
                      <a:round/>
                      <a:headEnd type="none" w="med" len="med"/>
                      <a:tailEnd type="none" w="med" len="med"/>
                    </a:lnT>
                    <a:lnB w="9525" cap="flat" cmpd="sng" algn="ctr">
                      <a:solidFill>
                        <a:srgbClr val="E3E0EE"/>
                      </a:solidFill>
                      <a:prstDash val="solid"/>
                      <a:round/>
                      <a:headEnd type="none" w="med" len="med"/>
                      <a:tailEnd type="none" w="med" len="med"/>
                    </a:lnB>
                    <a:solidFill>
                      <a:srgbClr val="F3F1F8"/>
                    </a:solidFill>
                  </a:tcPr>
                </a:tc>
              </a:tr>
              <a:tr h="374904">
                <a:tc>
                  <a:txBody>
                    <a:bodyPr/>
                    <a:lstStyle/>
                    <a:p>
                      <a:pPr indent="0" marL="0">
                        <a:buNone/>
                      </a:pPr>
                      <a:r>
                        <a:rPr lang="en-US" sz="1300" b="1" dirty="0">
                          <a:solidFill>
                            <a:srgbClr val="1E1B2E"/>
                          </a:solidFill>
                        </a:rPr>
                        <a:t>Extreme runtimes</a:t>
                      </a:r>
                      <a:endParaRPr lang="en-US" sz="1300" dirty="0"/>
                    </a:p>
                  </a:txBody>
                  <a:tcPr marL="91440" marR="91440" marT="0" marB="0" anchor="ctr">
                    <a:lnL w="9525" cap="flat" cmpd="sng" algn="ctr">
                      <a:solidFill>
                        <a:srgbClr val="E3E0EE"/>
                      </a:solidFill>
                      <a:prstDash val="solid"/>
                      <a:round/>
                      <a:headEnd type="none" w="med" len="med"/>
                      <a:tailEnd type="none" w="med" len="med"/>
                    </a:lnL>
                    <a:lnR w="9525" cap="flat" cmpd="sng" algn="ctr">
                      <a:solidFill>
                        <a:srgbClr val="E3E0EE"/>
                      </a:solidFill>
                      <a:prstDash val="solid"/>
                      <a:round/>
                      <a:headEnd type="none" w="med" len="med"/>
                      <a:tailEnd type="none" w="med" len="med"/>
                    </a:lnR>
                    <a:lnT w="9525" cap="flat" cmpd="sng" algn="ctr">
                      <a:solidFill>
                        <a:srgbClr val="E3E0EE"/>
                      </a:solidFill>
                      <a:prstDash val="solid"/>
                      <a:round/>
                      <a:headEnd type="none" w="med" len="med"/>
                      <a:tailEnd type="none" w="med" len="med"/>
                    </a:lnT>
                    <a:lnB w="9525" cap="flat" cmpd="sng" algn="ctr">
                      <a:solidFill>
                        <a:srgbClr val="E3E0EE"/>
                      </a:solidFill>
                      <a:prstDash val="solid"/>
                      <a:round/>
                      <a:headEnd type="none" w="med" len="med"/>
                      <a:tailEnd type="none" w="med" len="med"/>
                    </a:lnB>
                    <a:solidFill>
                      <a:srgbClr val="FFFFFF"/>
                    </a:solidFill>
                  </a:tcPr>
                </a:tc>
                <a:tc>
                  <a:txBody>
                    <a:bodyPr/>
                    <a:lstStyle/>
                    <a:p>
                      <a:pPr indent="0" marL="0">
                        <a:buNone/>
                      </a:pPr>
                      <a:r>
                        <a:rPr lang="en-US" sz="1300" dirty="0">
                          <a:solidFill>
                            <a:srgbClr val="1E1B2E"/>
                          </a:solidFill>
                        </a:rPr>
                        <a:t>Some runtimes reach 51,420 minutes</a:t>
                      </a:r>
                      <a:endParaRPr lang="en-US" sz="1300" dirty="0"/>
                    </a:p>
                  </a:txBody>
                  <a:tcPr marL="91440" marR="91440" marT="0" marB="0" anchor="ctr">
                    <a:lnL w="9525" cap="flat" cmpd="sng" algn="ctr">
                      <a:solidFill>
                        <a:srgbClr val="E3E0EE"/>
                      </a:solidFill>
                      <a:prstDash val="solid"/>
                      <a:round/>
                      <a:headEnd type="none" w="med" len="med"/>
                      <a:tailEnd type="none" w="med" len="med"/>
                    </a:lnL>
                    <a:lnR w="9525" cap="flat" cmpd="sng" algn="ctr">
                      <a:solidFill>
                        <a:srgbClr val="E3E0EE"/>
                      </a:solidFill>
                      <a:prstDash val="solid"/>
                      <a:round/>
                      <a:headEnd type="none" w="med" len="med"/>
                      <a:tailEnd type="none" w="med" len="med"/>
                    </a:lnR>
                    <a:lnT w="9525" cap="flat" cmpd="sng" algn="ctr">
                      <a:solidFill>
                        <a:srgbClr val="E3E0EE"/>
                      </a:solidFill>
                      <a:prstDash val="solid"/>
                      <a:round/>
                      <a:headEnd type="none" w="med" len="med"/>
                      <a:tailEnd type="none" w="med" len="med"/>
                    </a:lnT>
                    <a:lnB w="9525" cap="flat" cmpd="sng" algn="ctr">
                      <a:solidFill>
                        <a:srgbClr val="E3E0EE"/>
                      </a:solidFill>
                      <a:prstDash val="solid"/>
                      <a:round/>
                      <a:headEnd type="none" w="med" len="med"/>
                      <a:tailEnd type="none" w="med" len="med"/>
                    </a:lnB>
                    <a:solidFill>
                      <a:srgbClr val="FFFFFF"/>
                    </a:solidFill>
                  </a:tcPr>
                </a:tc>
                <a:tc>
                  <a:txBody>
                    <a:bodyPr/>
                    <a:lstStyle/>
                    <a:p>
                      <a:pPr indent="0" marL="0">
                        <a:buNone/>
                      </a:pPr>
                      <a:r>
                        <a:rPr lang="en-US" sz="1300" dirty="0">
                          <a:solidFill>
                            <a:srgbClr val="1E1B2E"/>
                          </a:solidFill>
                        </a:rPr>
                        <a:t>Review and cap</a:t>
                      </a:r>
                      <a:endParaRPr lang="en-US" sz="1300" dirty="0"/>
                    </a:p>
                  </a:txBody>
                  <a:tcPr marL="91440" marR="91440" marT="0" marB="0" anchor="ctr">
                    <a:lnL w="9525" cap="flat" cmpd="sng" algn="ctr">
                      <a:solidFill>
                        <a:srgbClr val="E3E0EE"/>
                      </a:solidFill>
                      <a:prstDash val="solid"/>
                      <a:round/>
                      <a:headEnd type="none" w="med" len="med"/>
                      <a:tailEnd type="none" w="med" len="med"/>
                    </a:lnL>
                    <a:lnR w="9525" cap="flat" cmpd="sng" algn="ctr">
                      <a:solidFill>
                        <a:srgbClr val="E3E0EE"/>
                      </a:solidFill>
                      <a:prstDash val="solid"/>
                      <a:round/>
                      <a:headEnd type="none" w="med" len="med"/>
                      <a:tailEnd type="none" w="med" len="med"/>
                    </a:lnR>
                    <a:lnT w="9525" cap="flat" cmpd="sng" algn="ctr">
                      <a:solidFill>
                        <a:srgbClr val="E3E0EE"/>
                      </a:solidFill>
                      <a:prstDash val="solid"/>
                      <a:round/>
                      <a:headEnd type="none" w="med" len="med"/>
                      <a:tailEnd type="none" w="med" len="med"/>
                    </a:lnT>
                    <a:lnB w="9525" cap="flat" cmpd="sng" algn="ctr">
                      <a:solidFill>
                        <a:srgbClr val="E3E0EE"/>
                      </a:solidFill>
                      <a:prstDash val="solid"/>
                      <a:round/>
                      <a:headEnd type="none" w="med" len="med"/>
                      <a:tailEnd type="none" w="med" len="med"/>
                    </a:lnB>
                    <a:solidFill>
                      <a:srgbClr val="FFFFFF"/>
                    </a:solidFill>
                  </a:tcPr>
                </a:tc>
              </a:tr>
            </a:tbl>
          </a:graphicData>
        </a:graphic>
      </p:graphicFrame>
      <p:sp>
        <p:nvSpPr>
          <p:cNvPr id="6" name="Closing line"/>
          <p:cNvSpPr txBox="1"/>
          <p:nvPr/>
        </p:nvSpPr>
        <p:spPr>
          <a:xfrm>
            <a:off x="457200" y="4343400"/>
            <a:ext cx="8229600" cy="365760"/>
          </a:xfrm>
          <a:prstGeom prst="rect">
            <a:avLst/>
          </a:prstGeom>
          <a:noFill/>
          <a:ln/>
        </p:spPr>
        <p:txBody>
          <a:bodyPr wrap="square" lIns="0" tIns="0" rIns="0" bIns="0" rtlCol="0" anchor="ctr"/>
          <a:lstStyle/>
          <a:p>
            <a:pPr indent="0" marL="0">
              <a:buNone/>
            </a:pPr>
            <a:r>
              <a:rPr lang="en-US" sz="1400" i="1" dirty="0">
                <a:solidFill>
                  <a:schemeClr val="accent2"/>
                </a:solidFill>
              </a:rPr>
              <a:t>After cleaning, the genre analysis should be re-run to confirm the results.</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Cinema Analysis">
  <a:themeElements>
    <a:clrScheme name="Cinema Analysis">
      <a:dk1>
        <a:srgbClr val="1E1B2E"/>
      </a:dk1>
      <a:lt1>
        <a:srgbClr val="FFFFFF"/>
      </a:lt1>
      <a:dk2>
        <a:srgbClr val="2F2A47"/>
      </a:dk2>
      <a:lt2>
        <a:srgbClr val="F3F1F8"/>
      </a:lt2>
      <a:accent1>
        <a:srgbClr val="C9971C"/>
      </a:accent1>
      <a:accent2>
        <a:srgbClr val="5B4B8A"/>
      </a:accent2>
      <a:accent3>
        <a:srgbClr val="2E7D6B"/>
      </a:accent3>
      <a:accent4>
        <a:srgbClr val="B5483A"/>
      </a:accent4>
      <a:accent5>
        <a:srgbClr val="6B6785"/>
      </a:accent5>
      <a:accent6>
        <a:srgbClr val="E7D9A8"/>
      </a:accent6>
      <a:hlink>
        <a:srgbClr val="5B4B8A"/>
      </a:hlink>
      <a:folHlink>
        <a:srgbClr val="6B6785"/>
      </a:folHlink>
    </a:clrScheme>
    <a:fontScheme name="Cinema Analysi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Movie Genre Performance, 2010-2019</dc:title>
  <dc:subject>PptxGenJS Presentation</dc:subject>
  <dc:creator>Nyambu</dc:creator>
  <cp:lastModifiedBy>Nyambu</cp:lastModifiedBy>
  <cp:revision>1</cp:revision>
  <dcterms:created xsi:type="dcterms:W3CDTF">2026-10-23T18:57:32Z</dcterms:created>
  <dcterms:modified xsi:type="dcterms:W3CDTF">2026-10-23T18:57:32Z</dcterms:modified>
</cp:coreProperties>
</file>